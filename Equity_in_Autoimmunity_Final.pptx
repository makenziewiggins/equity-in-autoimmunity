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sldIdLst>
    <p:sldId id="256" r:id="rId5"/>
    <p:sldId id="257" r:id="rId6"/>
    <p:sldId id="258" r:id="rId7"/>
    <p:sldId id="271"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5B8A"/>
    <a:srgbClr val="4DA6D9"/>
    <a:srgbClr val="97AC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BDBA13-EF55-4A60-9AC4-42C9BD45AFBD}" v="19" dt="2026-04-15T14:21:52.732"/>
    <p1510:client id="{99467433-AEFB-7F2F-53D7-41C07CE6A7E4}" v="14" dt="2026-04-15T18:03:09.2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52111" autoAdjust="0"/>
  </p:normalViewPr>
  <p:slideViewPr>
    <p:cSldViewPr snapToGrid="0" snapToObjects="1">
      <p:cViewPr varScale="1">
        <p:scale>
          <a:sx n="61" d="100"/>
          <a:sy n="61" d="100"/>
        </p:scale>
        <p:origin x="200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973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My name is Makenzie Wiggins, and my presentation is called </a:t>
            </a:r>
            <a:r>
              <a:rPr lang="en-US" i="1" dirty="0"/>
              <a:t>Equity in Autoimmunity: Mapping Overlapping Genetic Variants in Underserved Populations.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started with a personal observation. My brother had a severe anaphylactic reaction at age two, and three years later he was diagnosed with Type 1 Diabetes. That sequence — a major immune event followed by T1D onset — became the central question driving this research.</a:t>
            </a:r>
          </a:p>
          <a:p>
            <a:r>
              <a:rPr lang="en-US" dirty="0"/>
              <a:t>What the literature also shows is that Black individuals with T1D are statistically more likely to experience diabetic ketoacidosis, and representation in the genomic research that could help them is critically low. That's the equity problem this project is trying to address.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brought me to this research question: </a:t>
            </a:r>
            <a:r>
              <a:rPr lang="en-US" i="1" dirty="0"/>
              <a:t>What shared variants and loci (LOWS EYE ) exist between severe early-onset allergic phenotypes and Type 1 Diabetes, and are those loci underrepresented in Black populations within the GWAS Catalog and </a:t>
            </a:r>
            <a:r>
              <a:rPr lang="en-US" i="1" dirty="0" err="1"/>
              <a:t>ClinVar</a:t>
            </a:r>
            <a:r>
              <a:rPr lang="en-US" i="1" dirty="0"/>
              <a:t>?</a:t>
            </a:r>
          </a:p>
          <a:p>
            <a:endParaRPr lang="en-US" dirty="0"/>
          </a:p>
          <a:p>
            <a:r>
              <a:rPr lang="en-US" dirty="0"/>
              <a:t>The three pillars are Type 1 Diabetes, severe allergic phenotypes, and Black population representation. To my knowledge, no one has brought all three together into a unified analysis — and that's the gap this project is trying to fill.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9540D-196C-5236-F336-9CB18229F1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DD3D37-F8E8-6608-DA2B-5273EB879A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865332-C675-4CA3-E27A-AD7627E85345}"/>
              </a:ext>
            </a:extLst>
          </p:cNvPr>
          <p:cNvSpPr>
            <a:spLocks noGrp="1"/>
          </p:cNvSpPr>
          <p:nvPr>
            <p:ph type="body" idx="1"/>
          </p:nvPr>
        </p:nvSpPr>
        <p:spPr/>
        <p:txBody>
          <a:bodyPr/>
          <a:lstStyle/>
          <a:p>
            <a:r>
              <a:rPr lang="en-US" dirty="0"/>
              <a:t>Before I get into the data, I want to briefly touch on the work that grounded this project.</a:t>
            </a:r>
          </a:p>
          <a:p>
            <a:endParaRPr lang="en-US" dirty="0"/>
          </a:p>
          <a:p>
            <a:r>
              <a:rPr lang="en-US" dirty="0"/>
              <a:t>Landrum et al. from 2014 established </a:t>
            </a:r>
            <a:r>
              <a:rPr lang="en-US" dirty="0" err="1"/>
              <a:t>ClinVar</a:t>
            </a:r>
            <a:r>
              <a:rPr lang="en-US" dirty="0"/>
              <a:t> as the standard bridge between raw genetic variants and clinical phenotypes — that justifies my use of the variant summary as a clinical validation layer. </a:t>
            </a:r>
          </a:p>
          <a:p>
            <a:endParaRPr lang="en-US" dirty="0"/>
          </a:p>
          <a:p>
            <a:r>
              <a:rPr lang="en-US" dirty="0"/>
              <a:t>Balding et al. provides the foundational methodology for using SNPs to identify disease-associated loci, which is the core technique behind my filtering approach. </a:t>
            </a:r>
          </a:p>
          <a:p>
            <a:endParaRPr lang="en-US" dirty="0"/>
          </a:p>
          <a:p>
            <a:r>
              <a:rPr lang="en-US" dirty="0"/>
              <a:t>Ng et al. from 2014 conducted a GWAS meta-analysis specifically in African Americans and gave me the blueprint for filtering to Black participants — directly justifying the 70% threshold I'll walk through later. </a:t>
            </a:r>
          </a:p>
          <a:p>
            <a:endParaRPr lang="en-US" dirty="0"/>
          </a:p>
          <a:p>
            <a:r>
              <a:rPr lang="en-US" dirty="0"/>
              <a:t>And Pomales-Matos et al. from 2025 documented ancestry gaps across GWAS databases, which directly validates the equity hypothesis at the center of this project.</a:t>
            </a:r>
          </a:p>
          <a:p>
            <a:endParaRPr lang="en-US" dirty="0"/>
          </a:p>
          <a:p>
            <a:r>
              <a:rPr lang="en-US" dirty="0"/>
              <a:t>I also want to name the two required course readings. </a:t>
            </a:r>
            <a:r>
              <a:rPr lang="en-US" dirty="0" err="1"/>
              <a:t>AutoDW</a:t>
            </a:r>
            <a:r>
              <a:rPr lang="en-US" dirty="0"/>
              <a:t> by Liu et al. shaped my LLM-assisted feature type inference, and the Zhou et al. survey on LLMs for data preparation informed my semantic phenotype matching strategy — both of which I'll come back to in the methodology.</a:t>
            </a:r>
          </a:p>
        </p:txBody>
      </p:sp>
      <p:sp>
        <p:nvSpPr>
          <p:cNvPr id="4" name="Slide Number Placeholder 3">
            <a:extLst>
              <a:ext uri="{FF2B5EF4-FFF2-40B4-BE49-F238E27FC236}">
                <a16:creationId xmlns:a16="http://schemas.microsoft.com/office/drawing/2014/main" id="{20E8FC88-9165-D89C-7EBF-4CF982A28C5F}"/>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908508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this project on three datasets. </a:t>
            </a:r>
          </a:p>
          <a:p>
            <a:endParaRPr lang="en-US" dirty="0"/>
          </a:p>
          <a:p>
            <a:endParaRPr lang="en-US" dirty="0"/>
          </a:p>
          <a:p>
            <a:r>
              <a:rPr lang="en-US" dirty="0"/>
              <a:t>]The </a:t>
            </a:r>
            <a:r>
              <a:rPr lang="en-US" dirty="0" err="1"/>
              <a:t>ClinVar</a:t>
            </a:r>
            <a:r>
              <a:rPr lang="en-US" dirty="0"/>
              <a:t> variant summary from NCBI — nearly 8.9 million rows, 43 columns, zero null values — used to map genetic variants to clinical phenotypes and validate shared SNPs. </a:t>
            </a:r>
          </a:p>
          <a:p>
            <a:endParaRPr lang="en-US" dirty="0"/>
          </a:p>
          <a:p>
            <a:r>
              <a:rPr lang="en-US" dirty="0"/>
              <a:t>The GWAS Catalog associations data — just over a million rows covering more than 5,800 unique diseases — used to find shared SNPs across T1D and allergic phenotypes at scale. </a:t>
            </a:r>
          </a:p>
          <a:p>
            <a:endParaRPr lang="en-US" dirty="0"/>
          </a:p>
          <a:p>
            <a:r>
              <a:rPr lang="en-US" dirty="0"/>
              <a:t>And the GWAS Catalog ancestry data — about 40,000 rows of demographic information — used to isolate studies with predominantly Black participant populations.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initial EDA focused on understanding the distribution of variant types and how clinical significance was assigned across them. Single nucleotide variants dominate the dataset, which is expected. The clinical significance breakdown shows a large portion classified as variants of uncertain significance — an important quality note, because it means not everything in </a:t>
            </a:r>
            <a:r>
              <a:rPr lang="en-US" dirty="0" err="1"/>
              <a:t>ClinVar</a:t>
            </a:r>
            <a:r>
              <a:rPr lang="en-US" dirty="0"/>
              <a:t> is clinically actionable, and any downstream validation needs to account for that.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Breaking it down further by variant type, pathogenic classifications are not evenly distributed. Certain variant types carry a much higher proportion of pathogenic entries, which informed how I weighted my downstream filtering when looking for variants with enough clinical confidence to count as real validation.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 filtered </a:t>
            </a:r>
            <a:r>
              <a:rPr lang="en-US" dirty="0" err="1"/>
              <a:t>ClinVar</a:t>
            </a:r>
            <a:r>
              <a:rPr lang="en-US" dirty="0"/>
              <a:t> for T1D-associated genes and anaphylaxis-associated genes separately and looked for overlap, I found none. Zero shared genes between the two conditions in </a:t>
            </a:r>
            <a:r>
              <a:rPr lang="en-US" dirty="0" err="1"/>
              <a:t>ClinVar</a:t>
            </a:r>
            <a:r>
              <a:rPr lang="en-US" dirty="0"/>
              <a:t>. This doesn't mean there's no biological relationship — it means either the overlap doesn't exist in this dataset, my filters were too rigid, or the shared loci simply haven't been submitted to </a:t>
            </a:r>
            <a:r>
              <a:rPr lang="en-US" dirty="0" err="1"/>
              <a:t>ClinVar</a:t>
            </a:r>
            <a:r>
              <a:rPr lang="en-US" dirty="0"/>
              <a:t> yet. I came back to this question when I brought in the GWAS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frames the representation gap visually — comparing T1D and allergy associated SNPs across the full GWAS Catalog versus what remains when you filter to studies with predominantly Black participants. Even before I ran the intersection, the drop-off in Black-ancestry representation for these specific conditions was stark, and it started to suggest that the zero overlap I found earlier wasn't just a filter problem.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filtering the Black ancestry GWAS data and joining it with my T1D and allergy subsets, I got zero shared SNPs. I sat with that result and asked myself three questions. Is this scientific — is there truly no genetic overlap in Black populations? Are my filters too strict — did rigid string matching miss semantically related phenotypes? Or is this a representation gap — have these shared loci simply never been studied in Black populations at scale?</a:t>
            </a:r>
          </a:p>
          <a:p>
            <a:r>
              <a:rPr lang="en-US" dirty="0"/>
              <a:t>The answer turned out to be all three. And that's where LLMs came 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integrated Gemini 2.5 Flash directly into my R environment using the GenAI package and used it for three specific wrangling tasks.</a:t>
            </a:r>
          </a:p>
          <a:p>
            <a:r>
              <a:rPr lang="en-US" dirty="0"/>
              <a:t>The first was feature type inference, drawing on the </a:t>
            </a:r>
            <a:r>
              <a:rPr lang="en-US" dirty="0" err="1"/>
              <a:t>AutoDW</a:t>
            </a:r>
            <a:r>
              <a:rPr lang="en-US" dirty="0"/>
              <a:t> framework. I sampled three values per column from the 43-column variant summary and asked Gemini to classify each one and flag which columns were influential for T1D or allergy analysis — giving me a structured starting point instead of manually evaluating all 43 columns.</a:t>
            </a:r>
          </a:p>
          <a:p>
            <a:endParaRPr lang="en-US" dirty="0"/>
          </a:p>
          <a:p>
            <a:endParaRPr lang="en-US" dirty="0"/>
          </a:p>
          <a:p>
            <a:r>
              <a:rPr lang="en-US" dirty="0"/>
              <a:t>The second was demographic filtering. I used Gemini to move away from a brittle 12-condition OR filter and replace it with a percentage-based approach calculating what proportion of each study's participants had African ancestry. That's where the 70% threshold came from. Getting there actually took a lot of trial and error — I used Claude as an outside AI assistant to help think through the filtering logic, but I still had to manually scroll through rows of the ancestry data to verify the math was holding up the way I expected. The LLM gave me a starting point, but the validation was very much hands-on.</a:t>
            </a:r>
          </a:p>
          <a:p>
            <a:endParaRPr lang="en-US" dirty="0"/>
          </a:p>
          <a:p>
            <a:endParaRPr lang="en-US" dirty="0"/>
          </a:p>
          <a:p>
            <a:r>
              <a:rPr lang="en-US" dirty="0"/>
              <a:t>The third task was semantic phenotype matching, drawn from the Zhou et al. survey. I asked Gemini to recommend join strategies when RSID matching failed and to help bridge the </a:t>
            </a:r>
            <a:r>
              <a:rPr lang="en-US" dirty="0" err="1"/>
              <a:t>ClinVar</a:t>
            </a:r>
            <a:r>
              <a:rPr lang="en-US" dirty="0"/>
              <a:t> and GWAS datasets that rigid string filters couldn't connect.</a:t>
            </a:r>
          </a:p>
          <a:p>
            <a:endParaRPr lang="en-US" dirty="0"/>
          </a:p>
          <a:p>
            <a:r>
              <a:rPr lang="en-US" dirty="0"/>
              <a:t>I also want to be honest about where the LLM fell short. When I asked Gemini to remove redundant and duplicate columns after the join, it was too aggressive — it cut the dataset further than I intended and I lost columns I actually needed. At that point it was faster and more reliable to just do it manually. That's a real limitation of LLM-assisted wrangling: it optimizes for what you asked, not necessarily what you meant.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two of the functions I built. On the left is the feature type inference function — it samples three values per column, constructs a prompt asking Gemini to classify and flag influential columns, and parses the JSON response back into R. On the right is the 70% Black ancestry filter, which replaced my original manual OR filter. It calculates total participants per study, identifies African ancestry rows, computes a percentage, and filters to studies where at least 70% of participants have African or African American ancestry. The reason this matters is precision — my original filter would have included studies where Black participants were a small minority.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it is. Across the full GWAS Catalog, I found 30 shared SNPs between T1D and allergic phenotypes. When I applied the 70% Black ancestry filter, that number dropped to zero. And when I cross-referenced those 30 SNPs against </a:t>
            </a:r>
            <a:r>
              <a:rPr lang="en-US" dirty="0" err="1"/>
              <a:t>ClinVar</a:t>
            </a:r>
            <a:r>
              <a:rPr lang="en-US" dirty="0"/>
              <a:t>, only 2 had clinical entries.</a:t>
            </a:r>
          </a:p>
          <a:p>
            <a:r>
              <a:rPr lang="en-US" dirty="0"/>
              <a:t>That 30 versus zero comparison is the empirical heart of this project. Shared genetic loci between T1D and allergic phenotypes exist and have been studied — but they have never been meaningfully studied in Black populations. That is not a data cleaning artifact. That is a representation gap in the scientific literature.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SNPs that survived cross-referencing with </a:t>
            </a:r>
            <a:r>
              <a:rPr lang="en-US" dirty="0" err="1"/>
              <a:t>ClinVar</a:t>
            </a:r>
            <a:r>
              <a:rPr lang="en-US" dirty="0"/>
              <a:t> are rs6897932 in IL7R — the Interleukin-7 Receptor — and rs705704 in RPS26.</a:t>
            </a:r>
          </a:p>
          <a:p>
            <a:r>
              <a:rPr lang="en-US" dirty="0"/>
              <a:t>IL7R is associated with Type 1 Diabetes, asthma, multiple sclerosis, and lupus. IL7R variants affect T cell development and survival, which makes this finding compelling on both sides: T cells drive the autoimmune destruction of pancreatic beta cells in T1D and are also involved in allergic inflammation. A shared SNP here makes strong biological sense.</a:t>
            </a:r>
          </a:p>
          <a:p>
            <a:r>
              <a:rPr lang="en-US" dirty="0"/>
              <a:t>RPS26 sits in chromosome 12q13 and has been linked to T1D through its effects on INS — the insulin gene — expression. Its appearance as a shared locus with allergy phenotypes is more novel. I want to be careful not to overclaim — this is a candidate finding, not a confirmed causal relationship. But it's one worth following up on. And neither of these SNPs has been studied in a Black-ancestry cohort.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term: expand semantic matching to capture allergy variants missed by string filters, integrate </a:t>
            </a:r>
            <a:r>
              <a:rPr lang="en-US" dirty="0" err="1"/>
              <a:t>gnomAD</a:t>
            </a:r>
            <a:r>
              <a:rPr lang="en-US" dirty="0"/>
              <a:t> African ancestry frequency data, and narrow the allergy focus — potentially to tree nut allergies where literature suggests a stronger T1D correlation.</a:t>
            </a:r>
          </a:p>
          <a:p>
            <a:r>
              <a:rPr lang="en-US" dirty="0"/>
              <a:t>Medium term: apply ML clustering to identify shared functional pathways, build a classifier to flag variants likely </a:t>
            </a:r>
            <a:r>
              <a:rPr lang="en-US" dirty="0" err="1"/>
              <a:t>underclassified</a:t>
            </a:r>
            <a:r>
              <a:rPr lang="en-US" dirty="0"/>
              <a:t> in Black populations, and validate the IL7R and RPS26 findings against additional Black-ancestry cohorts.</a:t>
            </a:r>
          </a:p>
          <a:p>
            <a:r>
              <a:rPr lang="en-US" dirty="0"/>
              <a:t>Long term: advocate for mandatory ancestry diversity reporting in GWAS publications, develop a clinician-facing tool for ancestry-specific risk variants, and publish findings to contribute to equitable genomic medicine for Black adolescents with T1D.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Any questions? </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DA6D9"/>
          </a:solidFill>
          <a:ln w="12700">
            <a:solidFill>
              <a:srgbClr val="4DA6D9"/>
            </a:solidFill>
            <a:prstDash val="solid"/>
          </a:ln>
        </p:spPr>
        <p:txBody>
          <a:bodyPr/>
          <a:lstStyle/>
          <a:p>
            <a:endParaRPr lang="en-US"/>
          </a:p>
        </p:txBody>
      </p:sp>
      <p:sp>
        <p:nvSpPr>
          <p:cNvPr id="3" name="Shape 1"/>
          <p:cNvSpPr/>
          <p:nvPr/>
        </p:nvSpPr>
        <p:spPr>
          <a:xfrm>
            <a:off x="7132320" y="-731520"/>
            <a:ext cx="2926080" cy="2926080"/>
          </a:xfrm>
          <a:prstGeom prst="ellipse">
            <a:avLst/>
          </a:prstGeom>
          <a:solidFill>
            <a:srgbClr val="2E5B8A">
              <a:alpha val="40000"/>
            </a:srgbClr>
          </a:solidFill>
          <a:ln w="12700">
            <a:solidFill>
              <a:srgbClr val="2E5B8A">
                <a:alpha val="40000"/>
              </a:srgbClr>
            </a:solidFill>
            <a:prstDash val="solid"/>
          </a:ln>
        </p:spPr>
        <p:txBody>
          <a:bodyPr/>
          <a:lstStyle/>
          <a:p>
            <a:endParaRPr lang="en-US"/>
          </a:p>
        </p:txBody>
      </p:sp>
      <p:sp>
        <p:nvSpPr>
          <p:cNvPr id="4" name="Shape 2"/>
          <p:cNvSpPr/>
          <p:nvPr/>
        </p:nvSpPr>
        <p:spPr>
          <a:xfrm>
            <a:off x="7589520" y="-274320"/>
            <a:ext cx="2011680" cy="2011680"/>
          </a:xfrm>
          <a:prstGeom prst="ellipse">
            <a:avLst/>
          </a:prstGeom>
          <a:solidFill>
            <a:srgbClr val="4DA6D9">
              <a:alpha val="25000"/>
            </a:srgbClr>
          </a:solidFill>
          <a:ln w="12700">
            <a:solidFill>
              <a:srgbClr val="4DA6D9">
                <a:alpha val="25000"/>
              </a:srgbClr>
            </a:solidFill>
            <a:prstDash val="solid"/>
          </a:ln>
        </p:spPr>
        <p:txBody>
          <a:bodyPr/>
          <a:lstStyle/>
          <a:p>
            <a:endParaRPr lang="en-US"/>
          </a:p>
        </p:txBody>
      </p:sp>
      <p:sp>
        <p:nvSpPr>
          <p:cNvPr id="5" name="Shape 3"/>
          <p:cNvSpPr/>
          <p:nvPr/>
        </p:nvSpPr>
        <p:spPr>
          <a:xfrm>
            <a:off x="274320" y="3474720"/>
            <a:ext cx="2194560" cy="2194560"/>
          </a:xfrm>
          <a:prstGeom prst="ellipse">
            <a:avLst/>
          </a:prstGeom>
          <a:solidFill>
            <a:srgbClr val="2E5B8A">
              <a:alpha val="30000"/>
            </a:srgbClr>
          </a:solidFill>
          <a:ln w="12700">
            <a:solidFill>
              <a:srgbClr val="2E5B8A">
                <a:alpha val="30000"/>
              </a:srgbClr>
            </a:solidFill>
            <a:prstDash val="solid"/>
          </a:ln>
        </p:spPr>
        <p:txBody>
          <a:bodyPr/>
          <a:lstStyle/>
          <a:p>
            <a:endParaRPr lang="en-US"/>
          </a:p>
        </p:txBody>
      </p:sp>
      <p:sp>
        <p:nvSpPr>
          <p:cNvPr id="6" name="Text 4"/>
          <p:cNvSpPr/>
          <p:nvPr/>
        </p:nvSpPr>
        <p:spPr>
          <a:xfrm>
            <a:off x="457200" y="1005840"/>
            <a:ext cx="8229600" cy="777240"/>
          </a:xfrm>
          <a:prstGeom prst="rect">
            <a:avLst/>
          </a:prstGeom>
          <a:noFill/>
          <a:ln/>
        </p:spPr>
        <p:txBody>
          <a:bodyPr wrap="square" lIns="0" tIns="0" rIns="0" bIns="0" rtlCol="0" anchor="ctr"/>
          <a:lstStyle/>
          <a:p>
            <a:pPr marL="0" indent="0">
              <a:buNone/>
            </a:pPr>
            <a:r>
              <a:rPr lang="en-US" sz="3800" b="1" kern="0" spc="100" dirty="0">
                <a:solidFill>
                  <a:srgbClr val="FFFFFF"/>
                </a:solidFill>
                <a:latin typeface="Calibri" pitchFamily="34" charset="0"/>
                <a:ea typeface="Calibri" pitchFamily="34" charset="-122"/>
                <a:cs typeface="Calibri" pitchFamily="34" charset="-120"/>
              </a:rPr>
              <a:t>EQUITY IN AUTOIMMUNITY:</a:t>
            </a:r>
            <a:endParaRPr lang="en-US" sz="3800" dirty="0"/>
          </a:p>
        </p:txBody>
      </p:sp>
      <p:sp>
        <p:nvSpPr>
          <p:cNvPr id="7" name="Text 5"/>
          <p:cNvSpPr/>
          <p:nvPr/>
        </p:nvSpPr>
        <p:spPr>
          <a:xfrm>
            <a:off x="457200" y="1828800"/>
            <a:ext cx="7772400" cy="1005840"/>
          </a:xfrm>
          <a:prstGeom prst="rect">
            <a:avLst/>
          </a:prstGeom>
          <a:noFill/>
          <a:ln/>
        </p:spPr>
        <p:txBody>
          <a:bodyPr wrap="square" lIns="0" tIns="0" rIns="0" bIns="0" rtlCol="0" anchor="ctr"/>
          <a:lstStyle/>
          <a:p>
            <a:pPr marL="0" indent="0">
              <a:buNone/>
            </a:pPr>
            <a:r>
              <a:rPr lang="en-US" sz="2000" dirty="0">
                <a:solidFill>
                  <a:srgbClr val="8AAFC8"/>
                </a:solidFill>
                <a:latin typeface="Calibri" pitchFamily="34" charset="0"/>
                <a:ea typeface="Calibri" pitchFamily="34" charset="-122"/>
                <a:cs typeface="Calibri" pitchFamily="34" charset="-120"/>
              </a:rPr>
              <a:t>Mapping Overlapping Genetic Variants</a:t>
            </a:r>
            <a:endParaRPr lang="en-US" sz="2000" dirty="0"/>
          </a:p>
          <a:p>
            <a:pPr marL="0" indent="0">
              <a:buNone/>
            </a:pPr>
            <a:r>
              <a:rPr lang="en-US" sz="2000" dirty="0">
                <a:solidFill>
                  <a:srgbClr val="8AAFC8"/>
                </a:solidFill>
                <a:latin typeface="Calibri" pitchFamily="34" charset="0"/>
                <a:ea typeface="Calibri" pitchFamily="34" charset="-122"/>
                <a:cs typeface="Calibri" pitchFamily="34" charset="-120"/>
              </a:rPr>
              <a:t>in Underserved Populations</a:t>
            </a:r>
            <a:endParaRPr lang="en-US" sz="2000" dirty="0"/>
          </a:p>
        </p:txBody>
      </p:sp>
      <p:sp>
        <p:nvSpPr>
          <p:cNvPr id="8" name="Shape 6"/>
          <p:cNvSpPr/>
          <p:nvPr/>
        </p:nvSpPr>
        <p:spPr>
          <a:xfrm>
            <a:off x="457200" y="2971800"/>
            <a:ext cx="3200400" cy="36576"/>
          </a:xfrm>
          <a:prstGeom prst="rect">
            <a:avLst/>
          </a:prstGeom>
          <a:solidFill>
            <a:srgbClr val="4DA6D9"/>
          </a:solidFill>
          <a:ln w="12700">
            <a:solidFill>
              <a:srgbClr val="4DA6D9"/>
            </a:solidFill>
            <a:prstDash val="solid"/>
          </a:ln>
        </p:spPr>
        <p:txBody>
          <a:bodyPr/>
          <a:lstStyle/>
          <a:p>
            <a:endParaRPr lang="en-US"/>
          </a:p>
        </p:txBody>
      </p:sp>
      <p:sp>
        <p:nvSpPr>
          <p:cNvPr id="9" name="Text 7"/>
          <p:cNvSpPr/>
          <p:nvPr/>
        </p:nvSpPr>
        <p:spPr>
          <a:xfrm>
            <a:off x="457200" y="3108960"/>
            <a:ext cx="5486400" cy="365760"/>
          </a:xfrm>
          <a:prstGeom prst="rect">
            <a:avLst/>
          </a:prstGeom>
          <a:noFill/>
          <a:ln/>
        </p:spPr>
        <p:txBody>
          <a:bodyPr wrap="square" lIns="0" tIns="0" rIns="0" bIns="0" rtlCol="0" anchor="ctr"/>
          <a:lstStyle/>
          <a:p>
            <a:pPr marL="0" indent="0">
              <a:buNone/>
            </a:pPr>
            <a:r>
              <a:rPr lang="en-US" sz="1300" b="1" kern="0" spc="300" dirty="0">
                <a:solidFill>
                  <a:srgbClr val="4DA6D9"/>
                </a:solidFill>
                <a:latin typeface="Calibri" pitchFamily="34" charset="0"/>
                <a:ea typeface="Calibri" pitchFamily="34" charset="-122"/>
                <a:cs typeface="Calibri" pitchFamily="34" charset="-120"/>
              </a:rPr>
              <a:t>MAKENZIE ROULAE WIGGINS</a:t>
            </a:r>
            <a:endParaRPr lang="en-US" sz="1300" dirty="0"/>
          </a:p>
        </p:txBody>
      </p:sp>
      <p:sp>
        <p:nvSpPr>
          <p:cNvPr id="10" name="Text 8"/>
          <p:cNvSpPr/>
          <p:nvPr/>
        </p:nvSpPr>
        <p:spPr>
          <a:xfrm>
            <a:off x="457200" y="3520440"/>
            <a:ext cx="5486400" cy="320040"/>
          </a:xfrm>
          <a:prstGeom prst="rect">
            <a:avLst/>
          </a:prstGeom>
          <a:noFill/>
          <a:ln/>
        </p:spPr>
        <p:txBody>
          <a:bodyPr wrap="square" lIns="0" tIns="0" rIns="0" bIns="0" rtlCol="0" anchor="ctr"/>
          <a:lstStyle/>
          <a:p>
            <a:pPr marL="0" indent="0">
              <a:buNone/>
            </a:pPr>
            <a:r>
              <a:rPr lang="en-US" sz="1100" dirty="0">
                <a:solidFill>
                  <a:srgbClr val="8AAFC8"/>
                </a:solidFill>
                <a:latin typeface="Calibri" pitchFamily="34" charset="0"/>
                <a:ea typeface="Calibri" pitchFamily="34" charset="-122"/>
                <a:cs typeface="Calibri" pitchFamily="34" charset="-120"/>
              </a:rPr>
              <a:t>Final Presentation  |  Data Wrangling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137160"/>
            <a:ext cx="82296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Calibri" pitchFamily="34" charset="0"/>
                <a:ea typeface="Calibri" pitchFamily="34" charset="-122"/>
                <a:cs typeface="Calibri" pitchFamily="34" charset="-120"/>
              </a:rPr>
              <a:t>THE PERSONAL WHY</a:t>
            </a:r>
            <a:endParaRPr lang="en-US" sz="2600" dirty="0"/>
          </a:p>
        </p:txBody>
      </p:sp>
      <p:sp>
        <p:nvSpPr>
          <p:cNvPr id="4" name="Shape 2"/>
          <p:cNvSpPr/>
          <p:nvPr/>
        </p:nvSpPr>
        <p:spPr>
          <a:xfrm>
            <a:off x="365760" y="1097280"/>
            <a:ext cx="4937760" cy="347472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365760" y="1097280"/>
            <a:ext cx="91440" cy="3474720"/>
          </a:xfrm>
          <a:prstGeom prst="rect">
            <a:avLst/>
          </a:prstGeom>
          <a:solidFill>
            <a:srgbClr val="4DA6D9"/>
          </a:solidFill>
          <a:ln w="12700">
            <a:solidFill>
              <a:srgbClr val="4DA6D9"/>
            </a:solidFill>
            <a:prstDash val="solid"/>
          </a:ln>
        </p:spPr>
        <p:txBody>
          <a:bodyPr/>
          <a:lstStyle/>
          <a:p>
            <a:endParaRPr lang="en-US"/>
          </a:p>
        </p:txBody>
      </p:sp>
      <p:sp>
        <p:nvSpPr>
          <p:cNvPr id="6" name="Text 4"/>
          <p:cNvSpPr/>
          <p:nvPr/>
        </p:nvSpPr>
        <p:spPr>
          <a:xfrm>
            <a:off x="594360" y="1234440"/>
            <a:ext cx="4572000" cy="36576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A Brother's Story</a:t>
            </a:r>
            <a:endParaRPr lang="en-US" sz="1600" dirty="0"/>
          </a:p>
        </p:txBody>
      </p:sp>
      <p:sp>
        <p:nvSpPr>
          <p:cNvPr id="7" name="Text 5"/>
          <p:cNvSpPr/>
          <p:nvPr/>
        </p:nvSpPr>
        <p:spPr>
          <a:xfrm>
            <a:off x="594360" y="1691640"/>
            <a:ext cx="4480560" cy="2743200"/>
          </a:xfrm>
          <a:prstGeom prst="rect">
            <a:avLst/>
          </a:prstGeom>
          <a:noFill/>
          <a:ln/>
        </p:spPr>
        <p:txBody>
          <a:bodyPr wrap="square" lIns="0" tIns="0" rIns="0" bIns="0" rtlCol="0" anchor="t"/>
          <a:lstStyle/>
          <a:p>
            <a:pPr marL="0" indent="0">
              <a:buNone/>
            </a:pPr>
            <a:r>
              <a:rPr lang="en-US" sz="1250" b="1" dirty="0">
                <a:solidFill>
                  <a:srgbClr val="4DA6D9"/>
                </a:solidFill>
                <a:latin typeface="Calibri" pitchFamily="34" charset="0"/>
                <a:ea typeface="Calibri" pitchFamily="34" charset="-122"/>
                <a:cs typeface="Calibri" pitchFamily="34" charset="-120"/>
              </a:rPr>
              <a:t>At age 2,</a:t>
            </a:r>
            <a:r>
              <a:rPr lang="en-US" sz="1250" dirty="0">
                <a:solidFill>
                  <a:srgbClr val="1B2A4A"/>
                </a:solidFill>
                <a:latin typeface="Calibri" pitchFamily="34" charset="0"/>
                <a:ea typeface="Calibri" pitchFamily="34" charset="-122"/>
                <a:cs typeface="Calibri" pitchFamily="34" charset="-120"/>
              </a:rPr>
              <a:t> my brother suffered a severe anaphylactic reaction.</a:t>
            </a:r>
            <a:endParaRPr lang="en-US" sz="1250" dirty="0"/>
          </a:p>
          <a:p>
            <a:pPr marL="0" indent="0">
              <a:buNone/>
            </a:pPr>
            <a:endParaRPr lang="en-US" sz="1250" dirty="0"/>
          </a:p>
          <a:p>
            <a:pPr marL="0" indent="0">
              <a:buNone/>
            </a:pPr>
            <a:r>
              <a:rPr lang="en-US" sz="1250" b="1" dirty="0">
                <a:solidFill>
                  <a:srgbClr val="4DA6D9"/>
                </a:solidFill>
                <a:latin typeface="Calibri" pitchFamily="34" charset="0"/>
                <a:ea typeface="Calibri" pitchFamily="34" charset="-122"/>
                <a:cs typeface="Calibri" pitchFamily="34" charset="-120"/>
              </a:rPr>
              <a:t>Three years later</a:t>
            </a:r>
            <a:endParaRPr lang="en-US" sz="1250" dirty="0"/>
          </a:p>
          <a:p>
            <a:pPr marL="0" indent="0">
              <a:buNone/>
            </a:pPr>
            <a:r>
              <a:rPr lang="en-US" sz="1250" dirty="0">
                <a:solidFill>
                  <a:srgbClr val="1B2A4A"/>
                </a:solidFill>
                <a:latin typeface="Calibri" pitchFamily="34" charset="0"/>
                <a:ea typeface="Calibri" pitchFamily="34" charset="-122"/>
                <a:cs typeface="Calibri" pitchFamily="34" charset="-120"/>
              </a:rPr>
              <a:t> — despite doctors dismissing symptoms — he was diagnosed with Type 1 Diabetes.</a:t>
            </a:r>
            <a:endParaRPr lang="en-US" sz="1250" dirty="0"/>
          </a:p>
          <a:p>
            <a:pPr marL="0" indent="0">
              <a:buNone/>
            </a:pPr>
            <a:endParaRPr lang="en-US" sz="1250" dirty="0"/>
          </a:p>
          <a:p>
            <a:pPr marL="0" indent="0">
              <a:buNone/>
            </a:pPr>
            <a:r>
              <a:rPr lang="en-US" sz="1250" dirty="0">
                <a:solidFill>
                  <a:srgbClr val="1B2A4A"/>
                </a:solidFill>
                <a:latin typeface="Calibri" pitchFamily="34" charset="0"/>
                <a:ea typeface="Calibri" pitchFamily="34" charset="-122"/>
                <a:cs typeface="Calibri" pitchFamily="34" charset="-120"/>
              </a:rPr>
              <a:t>This sequence of events — a massive immune event followed by T1D onset — became the central question of this research.</a:t>
            </a:r>
            <a:endParaRPr lang="en-US" sz="1250" dirty="0"/>
          </a:p>
          <a:p>
            <a:pPr marL="0" indent="0">
              <a:buNone/>
            </a:pPr>
            <a:endParaRPr lang="en-US" sz="1250" dirty="0"/>
          </a:p>
          <a:p>
            <a:pPr marL="0" indent="0">
              <a:buNone/>
            </a:pPr>
            <a:r>
              <a:rPr lang="en-US" sz="1250" dirty="0">
                <a:solidFill>
                  <a:srgbClr val="1B2A4A"/>
                </a:solidFill>
                <a:latin typeface="Calibri" pitchFamily="34" charset="0"/>
                <a:ea typeface="Calibri" pitchFamily="34" charset="-122"/>
                <a:cs typeface="Calibri" pitchFamily="34" charset="-120"/>
              </a:rPr>
              <a:t>Black individuals with T1D are statistically more likely to experience ketoacidosis, and representation in the research that could help them is critically low.</a:t>
            </a:r>
            <a:endParaRPr lang="en-US" sz="1250" dirty="0"/>
          </a:p>
        </p:txBody>
      </p:sp>
      <p:sp>
        <p:nvSpPr>
          <p:cNvPr id="8" name="Shape 6"/>
          <p:cNvSpPr/>
          <p:nvPr/>
        </p:nvSpPr>
        <p:spPr>
          <a:xfrm>
            <a:off x="5577840" y="1097280"/>
            <a:ext cx="3200400" cy="1051560"/>
          </a:xfrm>
          <a:prstGeom prst="rect">
            <a:avLst/>
          </a:prstGeom>
          <a:solidFill>
            <a:srgbClr val="1B2A4A"/>
          </a:solidFill>
          <a:ln w="12700">
            <a:solidFill>
              <a:srgbClr val="1B2A4A"/>
            </a:solidFill>
            <a:prstDash val="solid"/>
          </a:ln>
          <a:effectLst>
            <a:outerShdw blurRad="101600" dist="38100" dir="8100000" algn="bl" rotWithShape="0">
              <a:srgbClr val="000000">
                <a:alpha val="12000"/>
              </a:srgbClr>
            </a:outerShdw>
          </a:effectLst>
        </p:spPr>
        <p:txBody>
          <a:bodyPr/>
          <a:lstStyle/>
          <a:p>
            <a:endParaRPr lang="en-US"/>
          </a:p>
        </p:txBody>
      </p:sp>
      <p:sp>
        <p:nvSpPr>
          <p:cNvPr id="9" name="Text 7"/>
          <p:cNvSpPr/>
          <p:nvPr/>
        </p:nvSpPr>
        <p:spPr>
          <a:xfrm>
            <a:off x="5623560" y="1188720"/>
            <a:ext cx="3108960" cy="502920"/>
          </a:xfrm>
          <a:prstGeom prst="rect">
            <a:avLst/>
          </a:prstGeom>
          <a:noFill/>
          <a:ln/>
        </p:spPr>
        <p:txBody>
          <a:bodyPr wrap="square" lIns="0" tIns="0" rIns="0" bIns="0" rtlCol="0" anchor="ctr"/>
          <a:lstStyle/>
          <a:p>
            <a:pPr marL="0" indent="0" algn="ctr">
              <a:buNone/>
            </a:pPr>
            <a:r>
              <a:rPr lang="en-US" sz="3000" b="1" dirty="0">
                <a:solidFill>
                  <a:srgbClr val="E8A838"/>
                </a:solidFill>
                <a:latin typeface="Calibri" pitchFamily="34" charset="0"/>
                <a:ea typeface="Calibri" pitchFamily="34" charset="-122"/>
                <a:cs typeface="Calibri" pitchFamily="34" charset="-120"/>
              </a:rPr>
              <a:t>2</a:t>
            </a:r>
            <a:endParaRPr lang="en-US" sz="3000" dirty="0"/>
          </a:p>
        </p:txBody>
      </p:sp>
      <p:sp>
        <p:nvSpPr>
          <p:cNvPr id="10" name="Text 8"/>
          <p:cNvSpPr/>
          <p:nvPr/>
        </p:nvSpPr>
        <p:spPr>
          <a:xfrm>
            <a:off x="5623560" y="1664208"/>
            <a:ext cx="3108960" cy="246888"/>
          </a:xfrm>
          <a:prstGeom prst="rect">
            <a:avLst/>
          </a:prstGeom>
          <a:noFill/>
          <a:ln/>
        </p:spPr>
        <p:txBody>
          <a:bodyPr wrap="square" lIns="0" tIns="0" rIns="0" bIns="0" rtlCol="0" anchor="ctr"/>
          <a:lstStyle/>
          <a:p>
            <a:pPr marL="0" indent="0" algn="ctr">
              <a:buNone/>
            </a:pPr>
            <a:r>
              <a:rPr lang="en-US" sz="950" dirty="0">
                <a:solidFill>
                  <a:srgbClr val="8AAFC8"/>
                </a:solidFill>
                <a:latin typeface="Calibri" pitchFamily="34" charset="0"/>
                <a:ea typeface="Calibri" pitchFamily="34" charset="-122"/>
                <a:cs typeface="Calibri" pitchFamily="34" charset="-120"/>
              </a:rPr>
              <a:t>Age at anaphylaxis</a:t>
            </a:r>
            <a:endParaRPr lang="en-US" sz="950" dirty="0"/>
          </a:p>
        </p:txBody>
      </p:sp>
      <p:sp>
        <p:nvSpPr>
          <p:cNvPr id="11" name="Text 9"/>
          <p:cNvSpPr/>
          <p:nvPr/>
        </p:nvSpPr>
        <p:spPr>
          <a:xfrm>
            <a:off x="5623560" y="1892808"/>
            <a:ext cx="3108960" cy="201168"/>
          </a:xfrm>
          <a:prstGeom prst="rect">
            <a:avLst/>
          </a:prstGeom>
          <a:noFill/>
          <a:ln/>
        </p:spPr>
        <p:txBody>
          <a:bodyPr wrap="square" lIns="0" tIns="0" rIns="0" bIns="0" rtlCol="0" anchor="ctr"/>
          <a:lstStyle/>
          <a:p>
            <a:pPr marL="0" indent="0" algn="ctr">
              <a:buNone/>
            </a:pPr>
            <a:r>
              <a:rPr lang="en-US" sz="900" i="1" dirty="0">
                <a:solidFill>
                  <a:srgbClr val="4DA6D9"/>
                </a:solidFill>
                <a:latin typeface="Calibri" pitchFamily="34" charset="0"/>
                <a:ea typeface="Calibri" pitchFamily="34" charset="-122"/>
                <a:cs typeface="Calibri" pitchFamily="34" charset="-120"/>
              </a:rPr>
              <a:t>years old</a:t>
            </a:r>
            <a:endParaRPr lang="en-US" sz="900" dirty="0"/>
          </a:p>
        </p:txBody>
      </p:sp>
      <p:sp>
        <p:nvSpPr>
          <p:cNvPr id="12" name="Shape 10"/>
          <p:cNvSpPr/>
          <p:nvPr/>
        </p:nvSpPr>
        <p:spPr>
          <a:xfrm>
            <a:off x="5577840" y="2331720"/>
            <a:ext cx="3200400" cy="1051560"/>
          </a:xfrm>
          <a:prstGeom prst="rect">
            <a:avLst/>
          </a:prstGeom>
          <a:solidFill>
            <a:srgbClr val="1B2A4A"/>
          </a:solidFill>
          <a:ln w="12700">
            <a:solidFill>
              <a:srgbClr val="1B2A4A"/>
            </a:solidFill>
            <a:prstDash val="solid"/>
          </a:ln>
          <a:effectLst>
            <a:outerShdw blurRad="101600" dist="38100" dir="8100000" algn="bl" rotWithShape="0">
              <a:srgbClr val="000000">
                <a:alpha val="12000"/>
              </a:srgbClr>
            </a:outerShdw>
          </a:effectLst>
        </p:spPr>
        <p:txBody>
          <a:bodyPr/>
          <a:lstStyle/>
          <a:p>
            <a:endParaRPr lang="en-US"/>
          </a:p>
        </p:txBody>
      </p:sp>
      <p:sp>
        <p:nvSpPr>
          <p:cNvPr id="13" name="Text 11"/>
          <p:cNvSpPr/>
          <p:nvPr/>
        </p:nvSpPr>
        <p:spPr>
          <a:xfrm>
            <a:off x="5623560" y="2423160"/>
            <a:ext cx="3108960" cy="502920"/>
          </a:xfrm>
          <a:prstGeom prst="rect">
            <a:avLst/>
          </a:prstGeom>
          <a:noFill/>
          <a:ln/>
        </p:spPr>
        <p:txBody>
          <a:bodyPr wrap="square" lIns="0" tIns="0" rIns="0" bIns="0" rtlCol="0" anchor="ctr"/>
          <a:lstStyle/>
          <a:p>
            <a:pPr marL="0" indent="0" algn="ctr">
              <a:buNone/>
            </a:pPr>
            <a:r>
              <a:rPr lang="en-US" sz="3000" b="1" dirty="0">
                <a:solidFill>
                  <a:srgbClr val="E8A838"/>
                </a:solidFill>
                <a:latin typeface="Calibri" pitchFamily="34" charset="0"/>
                <a:ea typeface="Calibri" pitchFamily="34" charset="-122"/>
                <a:cs typeface="Calibri" pitchFamily="34" charset="-120"/>
              </a:rPr>
              <a:t>3</a:t>
            </a:r>
            <a:endParaRPr lang="en-US" sz="3000" dirty="0"/>
          </a:p>
        </p:txBody>
      </p:sp>
      <p:sp>
        <p:nvSpPr>
          <p:cNvPr id="14" name="Text 12"/>
          <p:cNvSpPr/>
          <p:nvPr/>
        </p:nvSpPr>
        <p:spPr>
          <a:xfrm>
            <a:off x="5623560" y="2898648"/>
            <a:ext cx="3108960" cy="246888"/>
          </a:xfrm>
          <a:prstGeom prst="rect">
            <a:avLst/>
          </a:prstGeom>
          <a:noFill/>
          <a:ln/>
        </p:spPr>
        <p:txBody>
          <a:bodyPr wrap="square" lIns="0" tIns="0" rIns="0" bIns="0" rtlCol="0" anchor="ctr"/>
          <a:lstStyle/>
          <a:p>
            <a:pPr marL="0" indent="0" algn="ctr">
              <a:buNone/>
            </a:pPr>
            <a:r>
              <a:rPr lang="en-US" sz="950" dirty="0">
                <a:solidFill>
                  <a:srgbClr val="8AAFC8"/>
                </a:solidFill>
                <a:latin typeface="Calibri" pitchFamily="34" charset="0"/>
                <a:ea typeface="Calibri" pitchFamily="34" charset="-122"/>
                <a:cs typeface="Calibri" pitchFamily="34" charset="-120"/>
              </a:rPr>
              <a:t>Years until T1D diagnosis</a:t>
            </a:r>
            <a:endParaRPr lang="en-US" sz="950" dirty="0"/>
          </a:p>
        </p:txBody>
      </p:sp>
      <p:sp>
        <p:nvSpPr>
          <p:cNvPr id="15" name="Text 13"/>
          <p:cNvSpPr/>
          <p:nvPr/>
        </p:nvSpPr>
        <p:spPr>
          <a:xfrm>
            <a:off x="5623560" y="3127248"/>
            <a:ext cx="3108960" cy="201168"/>
          </a:xfrm>
          <a:prstGeom prst="rect">
            <a:avLst/>
          </a:prstGeom>
          <a:noFill/>
          <a:ln/>
        </p:spPr>
        <p:txBody>
          <a:bodyPr wrap="square" lIns="0" tIns="0" rIns="0" bIns="0" rtlCol="0" anchor="ctr"/>
          <a:lstStyle/>
          <a:p>
            <a:pPr marL="0" indent="0" algn="ctr">
              <a:buNone/>
            </a:pPr>
            <a:r>
              <a:rPr lang="en-US" sz="900" i="1" dirty="0">
                <a:solidFill>
                  <a:srgbClr val="4DA6D9"/>
                </a:solidFill>
                <a:latin typeface="Calibri" pitchFamily="34" charset="0"/>
                <a:ea typeface="Calibri" pitchFamily="34" charset="-122"/>
                <a:cs typeface="Calibri" pitchFamily="34" charset="-120"/>
              </a:rPr>
              <a:t>years later</a:t>
            </a:r>
            <a:endParaRPr lang="en-US" sz="900" dirty="0"/>
          </a:p>
        </p:txBody>
      </p:sp>
      <p:sp>
        <p:nvSpPr>
          <p:cNvPr id="16" name="Shape 14"/>
          <p:cNvSpPr/>
          <p:nvPr/>
        </p:nvSpPr>
        <p:spPr>
          <a:xfrm>
            <a:off x="5577840" y="3566160"/>
            <a:ext cx="3200400" cy="1051560"/>
          </a:xfrm>
          <a:prstGeom prst="rect">
            <a:avLst/>
          </a:prstGeom>
          <a:solidFill>
            <a:srgbClr val="1B2A4A"/>
          </a:solidFill>
          <a:ln w="12700">
            <a:solidFill>
              <a:srgbClr val="1B2A4A"/>
            </a:solidFill>
            <a:prstDash val="solid"/>
          </a:ln>
          <a:effectLst>
            <a:outerShdw blurRad="101600" dist="38100" dir="8100000" algn="bl" rotWithShape="0">
              <a:srgbClr val="000000">
                <a:alpha val="12000"/>
              </a:srgbClr>
            </a:outerShdw>
          </a:effectLst>
        </p:spPr>
        <p:txBody>
          <a:bodyPr/>
          <a:lstStyle/>
          <a:p>
            <a:endParaRPr lang="en-US"/>
          </a:p>
        </p:txBody>
      </p:sp>
      <p:sp>
        <p:nvSpPr>
          <p:cNvPr id="17" name="Text 15"/>
          <p:cNvSpPr/>
          <p:nvPr/>
        </p:nvSpPr>
        <p:spPr>
          <a:xfrm>
            <a:off x="5623560" y="3657600"/>
            <a:ext cx="3108960" cy="502920"/>
          </a:xfrm>
          <a:prstGeom prst="rect">
            <a:avLst/>
          </a:prstGeom>
          <a:noFill/>
          <a:ln/>
        </p:spPr>
        <p:txBody>
          <a:bodyPr wrap="square" lIns="0" tIns="0" rIns="0" bIns="0" rtlCol="0" anchor="ctr"/>
          <a:lstStyle/>
          <a:p>
            <a:pPr marL="0" indent="0" algn="ctr">
              <a:buNone/>
            </a:pPr>
            <a:r>
              <a:rPr lang="en-US" sz="3000" b="1" dirty="0">
                <a:solidFill>
                  <a:srgbClr val="E8A838"/>
                </a:solidFill>
                <a:latin typeface="Calibri" pitchFamily="34" charset="0"/>
                <a:ea typeface="Calibri" pitchFamily="34" charset="-122"/>
                <a:cs typeface="Calibri" pitchFamily="34" charset="-120"/>
              </a:rPr>
              <a:t>DKA</a:t>
            </a:r>
            <a:endParaRPr lang="en-US" sz="3000" dirty="0"/>
          </a:p>
        </p:txBody>
      </p:sp>
      <p:sp>
        <p:nvSpPr>
          <p:cNvPr id="18" name="Text 16"/>
          <p:cNvSpPr/>
          <p:nvPr/>
        </p:nvSpPr>
        <p:spPr>
          <a:xfrm>
            <a:off x="5623560" y="4133088"/>
            <a:ext cx="3108960" cy="246888"/>
          </a:xfrm>
          <a:prstGeom prst="rect">
            <a:avLst/>
          </a:prstGeom>
          <a:noFill/>
          <a:ln/>
        </p:spPr>
        <p:txBody>
          <a:bodyPr wrap="square" lIns="0" tIns="0" rIns="0" bIns="0" rtlCol="0" anchor="ctr"/>
          <a:lstStyle/>
          <a:p>
            <a:pPr marL="0" indent="0" algn="ctr">
              <a:buNone/>
            </a:pPr>
            <a:r>
              <a:rPr lang="en-US" sz="950" dirty="0">
                <a:solidFill>
                  <a:srgbClr val="8AAFC8"/>
                </a:solidFill>
                <a:latin typeface="Calibri" pitchFamily="34" charset="0"/>
                <a:ea typeface="Calibri" pitchFamily="34" charset="-122"/>
                <a:cs typeface="Calibri" pitchFamily="34" charset="-120"/>
              </a:rPr>
              <a:t>Black T1D patients at higher risk of</a:t>
            </a:r>
            <a:endParaRPr lang="en-US" sz="950" dirty="0"/>
          </a:p>
        </p:txBody>
      </p:sp>
      <p:sp>
        <p:nvSpPr>
          <p:cNvPr id="19" name="Text 17"/>
          <p:cNvSpPr/>
          <p:nvPr/>
        </p:nvSpPr>
        <p:spPr>
          <a:xfrm>
            <a:off x="5623560" y="4361688"/>
            <a:ext cx="3108960" cy="201168"/>
          </a:xfrm>
          <a:prstGeom prst="rect">
            <a:avLst/>
          </a:prstGeom>
          <a:noFill/>
          <a:ln/>
        </p:spPr>
        <p:txBody>
          <a:bodyPr wrap="square" lIns="0" tIns="0" rIns="0" bIns="0" rtlCol="0" anchor="ctr"/>
          <a:lstStyle/>
          <a:p>
            <a:pPr marL="0" indent="0" algn="ctr">
              <a:buNone/>
            </a:pPr>
            <a:r>
              <a:rPr lang="en-US" sz="900" i="1" dirty="0">
                <a:solidFill>
                  <a:srgbClr val="4DA6D9"/>
                </a:solidFill>
                <a:latin typeface="Calibri" pitchFamily="34" charset="0"/>
                <a:ea typeface="Calibri" pitchFamily="34" charset="-122"/>
                <a:cs typeface="Calibri" pitchFamily="34" charset="-120"/>
              </a:rPr>
              <a:t>diabetic ketoacidosis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2E5B8A">
              <a:alpha val="30000"/>
            </a:srgbClr>
          </a:solidFill>
          <a:ln w="12700">
            <a:solidFill>
              <a:srgbClr val="2E5B8A">
                <a:alpha val="30000"/>
              </a:srgbClr>
            </a:solidFill>
            <a:prstDash val="solid"/>
          </a:ln>
        </p:spPr>
        <p:txBody>
          <a:bodyPr/>
          <a:lstStyle/>
          <a:p>
            <a:endParaRPr lang="en-US"/>
          </a:p>
        </p:txBody>
      </p:sp>
      <p:sp>
        <p:nvSpPr>
          <p:cNvPr id="3" name="Shape 1"/>
          <p:cNvSpPr/>
          <p:nvPr/>
        </p:nvSpPr>
        <p:spPr>
          <a:xfrm>
            <a:off x="6858000" y="2926080"/>
            <a:ext cx="3200400" cy="3200400"/>
          </a:xfrm>
          <a:prstGeom prst="ellipse">
            <a:avLst/>
          </a:prstGeom>
          <a:solidFill>
            <a:srgbClr val="2E5B8A">
              <a:alpha val="25000"/>
            </a:srgbClr>
          </a:solidFill>
          <a:ln w="12700">
            <a:solidFill>
              <a:srgbClr val="2E5B8A">
                <a:alpha val="25000"/>
              </a:srgbClr>
            </a:solidFill>
            <a:prstDash val="solid"/>
          </a:ln>
        </p:spPr>
        <p:txBody>
          <a:bodyPr/>
          <a:lstStyle/>
          <a:p>
            <a:endParaRPr lang="en-US"/>
          </a:p>
        </p:txBody>
      </p:sp>
      <p:sp>
        <p:nvSpPr>
          <p:cNvPr id="4" name="Text 2"/>
          <p:cNvSpPr/>
          <p:nvPr/>
        </p:nvSpPr>
        <p:spPr>
          <a:xfrm>
            <a:off x="457200" y="457200"/>
            <a:ext cx="8229600" cy="457200"/>
          </a:xfrm>
          <a:prstGeom prst="rect">
            <a:avLst/>
          </a:prstGeom>
          <a:noFill/>
          <a:ln/>
        </p:spPr>
        <p:txBody>
          <a:bodyPr wrap="square" lIns="0" tIns="0" rIns="0" bIns="0" rtlCol="0" anchor="ctr"/>
          <a:lstStyle/>
          <a:p>
            <a:pPr marL="0" indent="0" algn="ctr">
              <a:buNone/>
            </a:pPr>
            <a:r>
              <a:rPr lang="en-US" sz="1300" b="1" kern="0" spc="400" dirty="0">
                <a:solidFill>
                  <a:srgbClr val="4DA6D9"/>
                </a:solidFill>
                <a:latin typeface="Calibri" pitchFamily="34" charset="0"/>
                <a:ea typeface="Calibri" pitchFamily="34" charset="-122"/>
                <a:cs typeface="Calibri" pitchFamily="34" charset="-120"/>
              </a:rPr>
              <a:t>RESEARCH QUESTION</a:t>
            </a:r>
            <a:endParaRPr lang="en-US" sz="1300" dirty="0"/>
          </a:p>
        </p:txBody>
      </p:sp>
      <p:sp>
        <p:nvSpPr>
          <p:cNvPr id="5" name="Shape 3"/>
          <p:cNvSpPr/>
          <p:nvPr/>
        </p:nvSpPr>
        <p:spPr>
          <a:xfrm>
            <a:off x="2286000" y="960120"/>
            <a:ext cx="4572000" cy="36576"/>
          </a:xfrm>
          <a:prstGeom prst="rect">
            <a:avLst/>
          </a:prstGeom>
          <a:solidFill>
            <a:srgbClr val="4DA6D9">
              <a:alpha val="60000"/>
            </a:srgbClr>
          </a:solidFill>
          <a:ln w="12700">
            <a:solidFill>
              <a:srgbClr val="4DA6D9">
                <a:alpha val="60000"/>
              </a:srgbClr>
            </a:solidFill>
            <a:prstDash val="solid"/>
          </a:ln>
        </p:spPr>
        <p:txBody>
          <a:bodyPr/>
          <a:lstStyle/>
          <a:p>
            <a:endParaRPr lang="en-US"/>
          </a:p>
        </p:txBody>
      </p:sp>
      <p:sp>
        <p:nvSpPr>
          <p:cNvPr id="6" name="Text 4"/>
          <p:cNvSpPr/>
          <p:nvPr/>
        </p:nvSpPr>
        <p:spPr>
          <a:xfrm>
            <a:off x="731520" y="1188720"/>
            <a:ext cx="7680960" cy="2011680"/>
          </a:xfrm>
          <a:prstGeom prst="rect">
            <a:avLst/>
          </a:prstGeom>
          <a:noFill/>
          <a:ln/>
        </p:spPr>
        <p:txBody>
          <a:bodyPr wrap="square" lIns="0" tIns="0" rIns="0" bIns="0" rtlCol="0" anchor="ctr"/>
          <a:lstStyle/>
          <a:p>
            <a:pPr marL="0" indent="0" algn="ctr">
              <a:buNone/>
            </a:pPr>
            <a:r>
              <a:rPr lang="en-US" sz="2200" dirty="0">
                <a:solidFill>
                  <a:srgbClr val="FFFFFF"/>
                </a:solidFill>
                <a:latin typeface="Calibri" pitchFamily="34" charset="0"/>
                <a:ea typeface="Calibri" pitchFamily="34" charset="-122"/>
                <a:cs typeface="Calibri" pitchFamily="34" charset="-120"/>
              </a:rPr>
              <a:t>What shared variants/loci exist between severe early-onset allergic phenotypes and T1D, and are these loci underrepresented in Black populations within the GWAS Catalog and ClinVar?</a:t>
            </a:r>
            <a:endParaRPr lang="en-US" sz="2200" dirty="0"/>
          </a:p>
        </p:txBody>
      </p:sp>
      <p:sp>
        <p:nvSpPr>
          <p:cNvPr id="7" name="Shape 5"/>
          <p:cNvSpPr/>
          <p:nvPr/>
        </p:nvSpPr>
        <p:spPr>
          <a:xfrm>
            <a:off x="457200" y="3474720"/>
            <a:ext cx="2560320" cy="1188720"/>
          </a:xfrm>
          <a:prstGeom prst="rect">
            <a:avLst/>
          </a:prstGeom>
          <a:solidFill>
            <a:srgbClr val="2E5B8A"/>
          </a:solidFill>
          <a:ln w="12700">
            <a:solidFill>
              <a:srgbClr val="4DA6D9"/>
            </a:solidFill>
            <a:prstDash val="solid"/>
          </a:ln>
        </p:spPr>
        <p:txBody>
          <a:bodyPr/>
          <a:lstStyle/>
          <a:p>
            <a:endParaRPr lang="en-US"/>
          </a:p>
        </p:txBody>
      </p:sp>
      <p:sp>
        <p:nvSpPr>
          <p:cNvPr id="8" name="Text 6"/>
          <p:cNvSpPr/>
          <p:nvPr/>
        </p:nvSpPr>
        <p:spPr>
          <a:xfrm>
            <a:off x="457200" y="3474720"/>
            <a:ext cx="2560320" cy="1188720"/>
          </a:xfrm>
          <a:prstGeom prst="rect">
            <a:avLst/>
          </a:prstGeom>
          <a:noFill/>
          <a:ln/>
        </p:spPr>
        <p:txBody>
          <a:bodyPr wrap="square" lIns="63500" tIns="63500" rIns="63500" bIns="635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Type 1 Diabetes</a:t>
            </a:r>
            <a:endParaRPr lang="en-US" sz="1300" dirty="0"/>
          </a:p>
        </p:txBody>
      </p:sp>
      <p:sp>
        <p:nvSpPr>
          <p:cNvPr id="9" name="Shape 7"/>
          <p:cNvSpPr/>
          <p:nvPr/>
        </p:nvSpPr>
        <p:spPr>
          <a:xfrm>
            <a:off x="3291840" y="3474720"/>
            <a:ext cx="2560320" cy="1188720"/>
          </a:xfrm>
          <a:prstGeom prst="rect">
            <a:avLst/>
          </a:prstGeom>
          <a:solidFill>
            <a:srgbClr val="2E5B8A"/>
          </a:solidFill>
          <a:ln w="12700">
            <a:solidFill>
              <a:srgbClr val="4DA6D9"/>
            </a:solidFill>
            <a:prstDash val="solid"/>
          </a:ln>
        </p:spPr>
        <p:txBody>
          <a:bodyPr/>
          <a:lstStyle/>
          <a:p>
            <a:endParaRPr lang="en-US"/>
          </a:p>
        </p:txBody>
      </p:sp>
      <p:sp>
        <p:nvSpPr>
          <p:cNvPr id="10" name="Text 8"/>
          <p:cNvSpPr/>
          <p:nvPr/>
        </p:nvSpPr>
        <p:spPr>
          <a:xfrm>
            <a:off x="3291840" y="3474720"/>
            <a:ext cx="2560320" cy="1188720"/>
          </a:xfrm>
          <a:prstGeom prst="rect">
            <a:avLst/>
          </a:prstGeom>
          <a:noFill/>
          <a:ln/>
        </p:spPr>
        <p:txBody>
          <a:bodyPr wrap="square" lIns="63500" tIns="63500" rIns="63500" bIns="635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Severe Allergic Phenotypes</a:t>
            </a:r>
            <a:endParaRPr lang="en-US" sz="1300" dirty="0"/>
          </a:p>
        </p:txBody>
      </p:sp>
      <p:sp>
        <p:nvSpPr>
          <p:cNvPr id="11" name="Shape 9"/>
          <p:cNvSpPr/>
          <p:nvPr/>
        </p:nvSpPr>
        <p:spPr>
          <a:xfrm>
            <a:off x="6126480" y="3474720"/>
            <a:ext cx="2560320" cy="1188720"/>
          </a:xfrm>
          <a:prstGeom prst="rect">
            <a:avLst/>
          </a:prstGeom>
          <a:solidFill>
            <a:srgbClr val="2E5B8A"/>
          </a:solidFill>
          <a:ln w="12700">
            <a:solidFill>
              <a:srgbClr val="4DA6D9"/>
            </a:solidFill>
            <a:prstDash val="solid"/>
          </a:ln>
        </p:spPr>
        <p:txBody>
          <a:bodyPr/>
          <a:lstStyle/>
          <a:p>
            <a:endParaRPr lang="en-US"/>
          </a:p>
        </p:txBody>
      </p:sp>
      <p:sp>
        <p:nvSpPr>
          <p:cNvPr id="12" name="Text 10"/>
          <p:cNvSpPr/>
          <p:nvPr/>
        </p:nvSpPr>
        <p:spPr>
          <a:xfrm>
            <a:off x="6126480" y="3474720"/>
            <a:ext cx="2560320" cy="1188720"/>
          </a:xfrm>
          <a:prstGeom prst="rect">
            <a:avLst/>
          </a:prstGeom>
          <a:noFill/>
          <a:ln/>
        </p:spPr>
        <p:txBody>
          <a:bodyPr wrap="square" lIns="63500" tIns="63500" rIns="63500" bIns="635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Black Population Representation</a:t>
            </a:r>
            <a:endParaRPr lang="en-US" sz="1300" dirty="0"/>
          </a:p>
        </p:txBody>
      </p:sp>
      <p:sp>
        <p:nvSpPr>
          <p:cNvPr id="13" name="Text 11"/>
          <p:cNvSpPr/>
          <p:nvPr/>
        </p:nvSpPr>
        <p:spPr>
          <a:xfrm>
            <a:off x="457200" y="4709160"/>
            <a:ext cx="8229600" cy="320040"/>
          </a:xfrm>
          <a:prstGeom prst="rect">
            <a:avLst/>
          </a:prstGeom>
          <a:noFill/>
          <a:ln/>
        </p:spPr>
        <p:txBody>
          <a:bodyPr wrap="square" lIns="0" tIns="0" rIns="0" bIns="0" rtlCol="0" anchor="ctr"/>
          <a:lstStyle/>
          <a:p>
            <a:pPr marL="0" indent="0" algn="ctr">
              <a:buNone/>
            </a:pPr>
            <a:r>
              <a:rPr lang="en-US" sz="1100" i="1" dirty="0">
                <a:solidFill>
                  <a:srgbClr val="8AAFC8"/>
                </a:solidFill>
                <a:latin typeface="Calibri" pitchFamily="34" charset="0"/>
                <a:ea typeface="Calibri" pitchFamily="34" charset="-122"/>
                <a:cs typeface="Calibri" pitchFamily="34" charset="-120"/>
              </a:rPr>
              <a:t>Three pillars — brought together for the first time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a:extLst>
            <a:ext uri="{FF2B5EF4-FFF2-40B4-BE49-F238E27FC236}">
              <a16:creationId xmlns:a16="http://schemas.microsoft.com/office/drawing/2014/main" id="{E516A0DB-1E1F-CEF8-2953-98566DE4AC1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0C86C8B-1437-B440-DDAB-401FE3469F87}"/>
              </a:ext>
            </a:extLst>
          </p:cNvPr>
          <p:cNvSpPr/>
          <p:nvPr/>
        </p:nvSpPr>
        <p:spPr>
          <a:xfrm>
            <a:off x="0" y="0"/>
            <a:ext cx="9144000" cy="914400"/>
          </a:xfrm>
          <a:prstGeom prst="rect">
            <a:avLst/>
          </a:prstGeom>
          <a:solidFill>
            <a:srgbClr val="1B2A4A"/>
          </a:solidFill>
          <a:ln w="12700">
            <a:solidFill>
              <a:srgbClr val="1B2A4A"/>
            </a:solidFill>
            <a:prstDash val="solid"/>
          </a:ln>
        </p:spPr>
        <p:txBody>
          <a:bodyPr/>
          <a:lstStyle/>
          <a:p>
            <a:endParaRPr lang="en-US" dirty="0"/>
          </a:p>
        </p:txBody>
      </p:sp>
      <p:sp>
        <p:nvSpPr>
          <p:cNvPr id="3" name="Text 1">
            <a:extLst>
              <a:ext uri="{FF2B5EF4-FFF2-40B4-BE49-F238E27FC236}">
                <a16:creationId xmlns:a16="http://schemas.microsoft.com/office/drawing/2014/main" id="{BFE03462-3940-E221-3D19-30C92874E1F6}"/>
              </a:ext>
            </a:extLst>
          </p:cNvPr>
          <p:cNvSpPr/>
          <p:nvPr/>
        </p:nvSpPr>
        <p:spPr>
          <a:xfrm>
            <a:off x="365760" y="137160"/>
            <a:ext cx="82296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Calibri" pitchFamily="34" charset="0"/>
                <a:ea typeface="Calibri" pitchFamily="34" charset="-122"/>
                <a:cs typeface="Calibri" pitchFamily="34" charset="-120"/>
              </a:rPr>
              <a:t>Related Works</a:t>
            </a:r>
            <a:endParaRPr lang="en-US" sz="2600" dirty="0"/>
          </a:p>
        </p:txBody>
      </p:sp>
      <p:sp>
        <p:nvSpPr>
          <p:cNvPr id="5" name="Shape 3">
            <a:extLst>
              <a:ext uri="{FF2B5EF4-FFF2-40B4-BE49-F238E27FC236}">
                <a16:creationId xmlns:a16="http://schemas.microsoft.com/office/drawing/2014/main" id="{DB32518B-8DCA-5D2E-4B2D-DF62EBD8E2B9}"/>
              </a:ext>
            </a:extLst>
          </p:cNvPr>
          <p:cNvSpPr/>
          <p:nvPr/>
        </p:nvSpPr>
        <p:spPr>
          <a:xfrm>
            <a:off x="228600" y="1113441"/>
            <a:ext cx="4251960" cy="1696776"/>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dirty="0"/>
          </a:p>
          <a:p>
            <a:endParaRPr lang="en-US" dirty="0"/>
          </a:p>
          <a:p>
            <a:endParaRPr lang="en-US" dirty="0"/>
          </a:p>
          <a:p>
            <a:r>
              <a:rPr lang="en-US" sz="1050" dirty="0" err="1">
                <a:latin typeface="Calibri" panose="020F0502020204030204" pitchFamily="34" charset="0"/>
                <a:ea typeface="Calibri" panose="020F0502020204030204" pitchFamily="34" charset="0"/>
                <a:cs typeface="Calibri" panose="020F0502020204030204" pitchFamily="34" charset="0"/>
              </a:rPr>
              <a:t>ClinVar</a:t>
            </a:r>
            <a:r>
              <a:rPr lang="en-US" sz="1050" dirty="0">
                <a:latin typeface="Calibri" panose="020F0502020204030204" pitchFamily="34" charset="0"/>
                <a:ea typeface="Calibri" panose="020F0502020204030204" pitchFamily="34" charset="0"/>
                <a:cs typeface="Calibri" panose="020F0502020204030204" pitchFamily="34" charset="0"/>
              </a:rPr>
              <a:t>: Public Archive of Relationships Among Sequence Variation and Human Phenotype</a:t>
            </a:r>
            <a:endParaRPr lang="en-US" dirty="0"/>
          </a:p>
          <a:p>
            <a:r>
              <a:rPr lang="en-US" sz="950" dirty="0">
                <a:solidFill>
                  <a:srgbClr val="97ACBD"/>
                </a:solidFill>
                <a:latin typeface="Calibri" panose="020F0502020204030204" pitchFamily="34" charset="0"/>
                <a:ea typeface="Calibri" panose="020F0502020204030204" pitchFamily="34" charset="0"/>
                <a:cs typeface="Calibri" panose="020F0502020204030204" pitchFamily="34" charset="0"/>
              </a:rPr>
              <a:t>Use of the </a:t>
            </a:r>
            <a:r>
              <a:rPr lang="en-US" sz="950" dirty="0" err="1">
                <a:solidFill>
                  <a:srgbClr val="97ACBD"/>
                </a:solidFill>
                <a:latin typeface="Calibri" panose="020F0502020204030204" pitchFamily="34" charset="0"/>
                <a:ea typeface="Calibri" panose="020F0502020204030204" pitchFamily="34" charset="0"/>
                <a:cs typeface="Calibri" panose="020F0502020204030204" pitchFamily="34" charset="0"/>
              </a:rPr>
              <a:t>ClinVar</a:t>
            </a:r>
            <a:r>
              <a:rPr lang="en-US" sz="950" dirty="0">
                <a:solidFill>
                  <a:srgbClr val="97ACBD"/>
                </a:solidFill>
                <a:latin typeface="Calibri" panose="020F0502020204030204" pitchFamily="34" charset="0"/>
                <a:ea typeface="Calibri" panose="020F0502020204030204" pitchFamily="34" charset="0"/>
                <a:cs typeface="Calibri" panose="020F0502020204030204" pitchFamily="34" charset="0"/>
              </a:rPr>
              <a:t> </a:t>
            </a:r>
            <a:r>
              <a:rPr lang="en-US" sz="950" dirty="0" err="1">
                <a:solidFill>
                  <a:srgbClr val="97ACBD"/>
                </a:solidFill>
                <a:latin typeface="Calibri" panose="020F0502020204030204" pitchFamily="34" charset="0"/>
                <a:ea typeface="Calibri" panose="020F0502020204030204" pitchFamily="34" charset="0"/>
                <a:cs typeface="Calibri" panose="020F0502020204030204" pitchFamily="34" charset="0"/>
              </a:rPr>
              <a:t>variant_summary</a:t>
            </a:r>
            <a:r>
              <a:rPr lang="en-US" sz="950" dirty="0">
                <a:solidFill>
                  <a:srgbClr val="97ACBD"/>
                </a:solidFill>
                <a:latin typeface="Calibri" panose="020F0502020204030204" pitchFamily="34" charset="0"/>
                <a:ea typeface="Calibri" panose="020F0502020204030204" pitchFamily="34" charset="0"/>
                <a:cs typeface="Calibri" panose="020F0502020204030204" pitchFamily="34" charset="0"/>
              </a:rPr>
              <a:t> as a clinical validation layer. This is the foundational paper establishing </a:t>
            </a:r>
            <a:r>
              <a:rPr lang="en-US" sz="950" dirty="0" err="1">
                <a:solidFill>
                  <a:srgbClr val="97ACBD"/>
                </a:solidFill>
                <a:latin typeface="Calibri" panose="020F0502020204030204" pitchFamily="34" charset="0"/>
                <a:ea typeface="Calibri" panose="020F0502020204030204" pitchFamily="34" charset="0"/>
                <a:cs typeface="Calibri" panose="020F0502020204030204" pitchFamily="34" charset="0"/>
              </a:rPr>
              <a:t>ClinVar</a:t>
            </a:r>
            <a:r>
              <a:rPr lang="en-US" sz="950" dirty="0">
                <a:solidFill>
                  <a:srgbClr val="97ACBD"/>
                </a:solidFill>
                <a:latin typeface="Calibri" panose="020F0502020204030204" pitchFamily="34" charset="0"/>
                <a:ea typeface="Calibri" panose="020F0502020204030204" pitchFamily="34" charset="0"/>
                <a:cs typeface="Calibri" panose="020F0502020204030204" pitchFamily="34" charset="0"/>
              </a:rPr>
              <a:t> as the standard bridge between raw genetic variants and clinical phenotypes.</a:t>
            </a:r>
          </a:p>
        </p:txBody>
      </p:sp>
      <p:sp>
        <p:nvSpPr>
          <p:cNvPr id="6" name="Shape 4">
            <a:extLst>
              <a:ext uri="{FF2B5EF4-FFF2-40B4-BE49-F238E27FC236}">
                <a16:creationId xmlns:a16="http://schemas.microsoft.com/office/drawing/2014/main" id="{0CED3E8E-E35B-029B-63E4-867E07A5B2ED}"/>
              </a:ext>
            </a:extLst>
          </p:cNvPr>
          <p:cNvSpPr/>
          <p:nvPr/>
        </p:nvSpPr>
        <p:spPr>
          <a:xfrm>
            <a:off x="228600" y="1113441"/>
            <a:ext cx="4251960" cy="685800"/>
          </a:xfrm>
          <a:prstGeom prst="rect">
            <a:avLst/>
          </a:prstGeom>
          <a:solidFill>
            <a:srgbClr val="2E5B8A"/>
          </a:solidFill>
          <a:ln w="12700">
            <a:solidFill>
              <a:srgbClr val="2E5B8A"/>
            </a:solidFill>
            <a:prstDash val="solid"/>
          </a:ln>
        </p:spPr>
        <p:txBody>
          <a:bodyPr/>
          <a:lstStyle/>
          <a:p>
            <a:r>
              <a:rPr lang="en-US" b="1" dirty="0">
                <a:solidFill>
                  <a:schemeClr val="bg1"/>
                </a:solidFill>
              </a:rPr>
              <a:t>Landrum et al. (2014) — Nucleic Acids Research</a:t>
            </a:r>
            <a:r>
              <a:rPr lang="en-US" dirty="0">
                <a:solidFill>
                  <a:schemeClr val="bg1"/>
                </a:solidFill>
              </a:rPr>
              <a:t> </a:t>
            </a:r>
          </a:p>
        </p:txBody>
      </p:sp>
      <p:sp>
        <p:nvSpPr>
          <p:cNvPr id="15" name="Shape 13">
            <a:extLst>
              <a:ext uri="{FF2B5EF4-FFF2-40B4-BE49-F238E27FC236}">
                <a16:creationId xmlns:a16="http://schemas.microsoft.com/office/drawing/2014/main" id="{1B03B470-C87F-F884-41BC-81C6E4A3A6C8}"/>
              </a:ext>
            </a:extLst>
          </p:cNvPr>
          <p:cNvSpPr/>
          <p:nvPr/>
        </p:nvSpPr>
        <p:spPr>
          <a:xfrm>
            <a:off x="320040" y="3010009"/>
            <a:ext cx="4069080" cy="27432"/>
          </a:xfrm>
          <a:prstGeom prst="rect">
            <a:avLst/>
          </a:prstGeom>
          <a:solidFill>
            <a:srgbClr val="D8ECF5"/>
          </a:solidFill>
          <a:ln w="12700">
            <a:solidFill>
              <a:srgbClr val="D8ECF5"/>
            </a:solidFill>
            <a:prstDash val="solid"/>
          </a:ln>
        </p:spPr>
        <p:txBody>
          <a:bodyPr/>
          <a:lstStyle/>
          <a:p>
            <a:endParaRPr lang="en-US"/>
          </a:p>
        </p:txBody>
      </p:sp>
      <p:sp>
        <p:nvSpPr>
          <p:cNvPr id="19" name="Text 17">
            <a:extLst>
              <a:ext uri="{FF2B5EF4-FFF2-40B4-BE49-F238E27FC236}">
                <a16:creationId xmlns:a16="http://schemas.microsoft.com/office/drawing/2014/main" id="{2E7101A9-BBFA-4EE1-BA90-DF496D21D4D9}"/>
              </a:ext>
            </a:extLst>
          </p:cNvPr>
          <p:cNvSpPr/>
          <p:nvPr/>
        </p:nvSpPr>
        <p:spPr>
          <a:xfrm>
            <a:off x="4846320" y="1371600"/>
            <a:ext cx="210312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rs705704</a:t>
            </a:r>
            <a:endParaRPr lang="en-US" sz="1400" dirty="0"/>
          </a:p>
        </p:txBody>
      </p:sp>
      <p:sp>
        <p:nvSpPr>
          <p:cNvPr id="21" name="Text 19">
            <a:extLst>
              <a:ext uri="{FF2B5EF4-FFF2-40B4-BE49-F238E27FC236}">
                <a16:creationId xmlns:a16="http://schemas.microsoft.com/office/drawing/2014/main" id="{DB783C2B-6467-4FE4-B020-B5537CCF4542}"/>
              </a:ext>
            </a:extLst>
          </p:cNvPr>
          <p:cNvSpPr/>
          <p:nvPr/>
        </p:nvSpPr>
        <p:spPr>
          <a:xfrm>
            <a:off x="4846320" y="1737360"/>
            <a:ext cx="4251960" cy="256032"/>
          </a:xfrm>
          <a:prstGeom prst="rect">
            <a:avLst/>
          </a:prstGeom>
          <a:noFill/>
          <a:ln/>
        </p:spPr>
        <p:txBody>
          <a:bodyPr wrap="square" lIns="0" tIns="0" rIns="0" bIns="0"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Ribosomal Protein S26</a:t>
            </a:r>
            <a:endParaRPr lang="en-US" sz="950" dirty="0"/>
          </a:p>
        </p:txBody>
      </p:sp>
      <p:sp>
        <p:nvSpPr>
          <p:cNvPr id="27" name="Shape 25">
            <a:extLst>
              <a:ext uri="{FF2B5EF4-FFF2-40B4-BE49-F238E27FC236}">
                <a16:creationId xmlns:a16="http://schemas.microsoft.com/office/drawing/2014/main" id="{717AE6DA-4CFB-014F-6DC1-1C2F307DBF8A}"/>
              </a:ext>
            </a:extLst>
          </p:cNvPr>
          <p:cNvSpPr/>
          <p:nvPr/>
        </p:nvSpPr>
        <p:spPr>
          <a:xfrm>
            <a:off x="4754882" y="2993719"/>
            <a:ext cx="4069080" cy="27432"/>
          </a:xfrm>
          <a:prstGeom prst="rect">
            <a:avLst/>
          </a:prstGeom>
          <a:solidFill>
            <a:srgbClr val="D8ECF5"/>
          </a:solidFill>
          <a:ln w="12700">
            <a:solidFill>
              <a:srgbClr val="D8ECF5"/>
            </a:solidFill>
            <a:prstDash val="solid"/>
          </a:ln>
        </p:spPr>
        <p:txBody>
          <a:bodyPr/>
          <a:lstStyle/>
          <a:p>
            <a:endParaRPr lang="en-US"/>
          </a:p>
        </p:txBody>
      </p:sp>
      <p:sp>
        <p:nvSpPr>
          <p:cNvPr id="33" name="Shape 3">
            <a:extLst>
              <a:ext uri="{FF2B5EF4-FFF2-40B4-BE49-F238E27FC236}">
                <a16:creationId xmlns:a16="http://schemas.microsoft.com/office/drawing/2014/main" id="{30170EBB-EDBE-A29F-33B4-E3BECFB1D54E}"/>
              </a:ext>
            </a:extLst>
          </p:cNvPr>
          <p:cNvSpPr/>
          <p:nvPr/>
        </p:nvSpPr>
        <p:spPr>
          <a:xfrm>
            <a:off x="228600" y="3215806"/>
            <a:ext cx="4251960" cy="1736605"/>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lIns="91440" tIns="45720" rIns="91440" bIns="45720" anchor="t"/>
          <a:lstStyle/>
          <a:p>
            <a:endParaRPr lang="en-US" dirty="0"/>
          </a:p>
          <a:p>
            <a:r>
              <a:rPr lang="en-US" sz="1050" dirty="0" err="1">
                <a:latin typeface="Calibri"/>
                <a:ea typeface="Calibri"/>
                <a:cs typeface="Calibri"/>
              </a:rPr>
              <a:t>ClinVar</a:t>
            </a:r>
            <a:r>
              <a:rPr lang="en-US" sz="1050" dirty="0">
                <a:latin typeface="Calibri"/>
                <a:ea typeface="Calibri"/>
                <a:cs typeface="Calibri"/>
              </a:rPr>
              <a:t>: Public Archive of Relationships Among Sequence Variation and </a:t>
            </a:r>
          </a:p>
          <a:p>
            <a:r>
              <a:rPr lang="en-US" sz="1050">
                <a:latin typeface="Calibri" panose="020F0502020204030204" pitchFamily="34" charset="0"/>
                <a:ea typeface="Calibri" panose="020F0502020204030204" pitchFamily="34" charset="0"/>
                <a:cs typeface="Calibri" panose="020F0502020204030204" pitchFamily="34" charset="0"/>
              </a:rPr>
              <a:t>e</a:t>
            </a:r>
            <a:endParaRPr lang="en-US" sz="1050" dirty="0">
              <a:latin typeface="Calibri" panose="020F0502020204030204" pitchFamily="34" charset="0"/>
              <a:ea typeface="Calibri" panose="020F0502020204030204" pitchFamily="34" charset="0"/>
              <a:cs typeface="Calibri" panose="020F0502020204030204" pitchFamily="34" charset="0"/>
            </a:endParaRPr>
          </a:p>
          <a:p>
            <a:endParaRPr lang="en-US" sz="1050" dirty="0">
              <a:latin typeface="Calibri" panose="020F0502020204030204" pitchFamily="34" charset="0"/>
              <a:ea typeface="Calibri" panose="020F0502020204030204" pitchFamily="34" charset="0"/>
              <a:cs typeface="Calibri" panose="020F0502020204030204" pitchFamily="34" charset="0"/>
            </a:endParaRPr>
          </a:p>
          <a:p>
            <a:r>
              <a:rPr lang="en-US" sz="1050" dirty="0"/>
              <a:t>Meta-Analysis of Genome-Wide Association Studies in African Americans Provides Insights into the Genetic Architecture of Type 2 Diabetes</a:t>
            </a:r>
          </a:p>
          <a:p>
            <a:r>
              <a:rPr lang="en-US" sz="950" dirty="0">
                <a:solidFill>
                  <a:srgbClr val="97ACBD"/>
                </a:solidFill>
                <a:latin typeface="Calibri"/>
                <a:ea typeface="Calibri"/>
                <a:cs typeface="Calibri"/>
              </a:rPr>
              <a:t>Provides the methodological blueprint for filtering GWAS data specifically to </a:t>
            </a:r>
            <a:r>
              <a:rPr lang="en-US" sz="950">
                <a:solidFill>
                  <a:srgbClr val="97ACBD"/>
                </a:solidFill>
                <a:latin typeface="Calibri"/>
                <a:ea typeface="Calibri"/>
                <a:cs typeface="Calibri"/>
              </a:rPr>
              <a:t>Black/African American participants. Justifies the 70% Black ancestry </a:t>
            </a:r>
            <a:r>
              <a:rPr lang="en-US" sz="950" dirty="0">
                <a:solidFill>
                  <a:srgbClr val="97ACBD"/>
                </a:solidFill>
                <a:latin typeface="Calibri"/>
                <a:ea typeface="Calibri"/>
                <a:cs typeface="Calibri"/>
              </a:rPr>
              <a:t>threshold </a:t>
            </a:r>
            <a:r>
              <a:rPr lang="en-US" sz="950">
                <a:solidFill>
                  <a:srgbClr val="97ACBD"/>
                </a:solidFill>
                <a:latin typeface="Calibri"/>
                <a:ea typeface="Calibri"/>
                <a:cs typeface="Calibri"/>
              </a:rPr>
              <a:t>filter and the decision to analyze this population separately.</a:t>
            </a:r>
          </a:p>
        </p:txBody>
      </p:sp>
      <p:sp>
        <p:nvSpPr>
          <p:cNvPr id="34" name="Shape 4">
            <a:extLst>
              <a:ext uri="{FF2B5EF4-FFF2-40B4-BE49-F238E27FC236}">
                <a16:creationId xmlns:a16="http://schemas.microsoft.com/office/drawing/2014/main" id="{F5F7504B-20A6-8AC0-B5FA-96D353BBC71F}"/>
              </a:ext>
            </a:extLst>
          </p:cNvPr>
          <p:cNvSpPr/>
          <p:nvPr/>
        </p:nvSpPr>
        <p:spPr>
          <a:xfrm>
            <a:off x="228600" y="3215806"/>
            <a:ext cx="4251960" cy="603504"/>
          </a:xfrm>
          <a:prstGeom prst="rect">
            <a:avLst/>
          </a:prstGeom>
          <a:solidFill>
            <a:srgbClr val="4DA6D9"/>
          </a:solidFill>
          <a:ln w="12700">
            <a:solidFill>
              <a:srgbClr val="4DA6D9"/>
            </a:solidFill>
            <a:prstDash val="solid"/>
          </a:ln>
        </p:spPr>
        <p:txBody>
          <a:bodyPr/>
          <a:lstStyle/>
          <a:p>
            <a:r>
              <a:rPr lang="en-US" b="1" dirty="0">
                <a:solidFill>
                  <a:schemeClr val="bg1"/>
                </a:solidFill>
              </a:rPr>
              <a:t>Ng et al. (2014) — PLOS Genetics</a:t>
            </a:r>
            <a:endParaRPr lang="en-US" dirty="0">
              <a:solidFill>
                <a:schemeClr val="bg1"/>
              </a:solidFill>
            </a:endParaRPr>
          </a:p>
        </p:txBody>
      </p:sp>
      <p:sp>
        <p:nvSpPr>
          <p:cNvPr id="35" name="Shape 3">
            <a:extLst>
              <a:ext uri="{FF2B5EF4-FFF2-40B4-BE49-F238E27FC236}">
                <a16:creationId xmlns:a16="http://schemas.microsoft.com/office/drawing/2014/main" id="{96EF27EE-7453-7653-7B8F-9270326D7DFD}"/>
              </a:ext>
            </a:extLst>
          </p:cNvPr>
          <p:cNvSpPr/>
          <p:nvPr/>
        </p:nvSpPr>
        <p:spPr>
          <a:xfrm>
            <a:off x="4663442" y="1097277"/>
            <a:ext cx="4251960" cy="1752769"/>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lIns="91440" tIns="45720" rIns="91440" bIns="45720" anchor="t"/>
          <a:lstStyle/>
          <a:p>
            <a:endParaRPr lang="en-US" dirty="0"/>
          </a:p>
          <a:p>
            <a:r>
              <a:rPr lang="en-US" sz="1050" dirty="0" err="1">
                <a:latin typeface="Calibri" panose="020F0502020204030204" pitchFamily="34" charset="0"/>
                <a:ea typeface="Calibri" panose="020F0502020204030204" pitchFamily="34" charset="0"/>
                <a:cs typeface="Calibri" panose="020F0502020204030204" pitchFamily="34" charset="0"/>
              </a:rPr>
              <a:t>ClinVar</a:t>
            </a:r>
            <a:r>
              <a:rPr lang="en-US" sz="1050" dirty="0">
                <a:latin typeface="Calibri" panose="020F0502020204030204" pitchFamily="34" charset="0"/>
                <a:ea typeface="Calibri" panose="020F0502020204030204" pitchFamily="34" charset="0"/>
                <a:cs typeface="Calibri" panose="020F0502020204030204" pitchFamily="34" charset="0"/>
              </a:rPr>
              <a:t>: Public Archive of Relationships Among Sequence Variation and Human Phenotype</a:t>
            </a:r>
          </a:p>
          <a:p>
            <a:endParaRPr lang="en-US" sz="1050" dirty="0">
              <a:latin typeface="Calibri" panose="020F0502020204030204" pitchFamily="34" charset="0"/>
              <a:ea typeface="Calibri" panose="020F0502020204030204" pitchFamily="34" charset="0"/>
              <a:cs typeface="Calibri" panose="020F0502020204030204" pitchFamily="34" charset="0"/>
            </a:endParaRPr>
          </a:p>
          <a:p>
            <a:r>
              <a:rPr lang="en-US" sz="1050" dirty="0"/>
              <a:t>Analyzing Human Genetic Variation Using SNP-Based Methods (</a:t>
            </a:r>
            <a:r>
              <a:rPr lang="en-US" sz="1050" dirty="0" err="1"/>
              <a:t>doi</a:t>
            </a:r>
            <a:r>
              <a:rPr lang="en-US" sz="1050" dirty="0"/>
              <a:t>: 10.1002/0471142905.hg0816s89)</a:t>
            </a:r>
          </a:p>
          <a:p>
            <a:r>
              <a:rPr lang="en-US" sz="950" dirty="0">
                <a:solidFill>
                  <a:srgbClr val="97ACBD"/>
                </a:solidFill>
                <a:latin typeface="Calibri"/>
                <a:ea typeface="Calibri"/>
                <a:cs typeface="Calibri"/>
              </a:rPr>
              <a:t>Establishes the methodological precedent for using SNPs to identify disease-associated loci. This is the "why SNPs" justification for filtering and loci-identification approach.</a:t>
            </a:r>
          </a:p>
        </p:txBody>
      </p:sp>
      <p:sp>
        <p:nvSpPr>
          <p:cNvPr id="36" name="Shape 4">
            <a:extLst>
              <a:ext uri="{FF2B5EF4-FFF2-40B4-BE49-F238E27FC236}">
                <a16:creationId xmlns:a16="http://schemas.microsoft.com/office/drawing/2014/main" id="{A0F463F9-9B39-5982-7199-92C69C2F57E6}"/>
              </a:ext>
            </a:extLst>
          </p:cNvPr>
          <p:cNvSpPr/>
          <p:nvPr/>
        </p:nvSpPr>
        <p:spPr>
          <a:xfrm>
            <a:off x="4663442" y="1097278"/>
            <a:ext cx="4251960" cy="701963"/>
          </a:xfrm>
          <a:prstGeom prst="rect">
            <a:avLst/>
          </a:prstGeom>
          <a:solidFill>
            <a:srgbClr val="4DA6D9"/>
          </a:solidFill>
          <a:ln w="12700">
            <a:solidFill>
              <a:srgbClr val="4DA6D9"/>
            </a:solidFill>
            <a:prstDash val="solid"/>
          </a:ln>
        </p:spPr>
        <p:txBody>
          <a:bodyPr/>
          <a:lstStyle/>
          <a:p>
            <a:r>
              <a:rPr lang="en-US" b="1" dirty="0">
                <a:solidFill>
                  <a:schemeClr val="bg1"/>
                </a:solidFill>
              </a:rPr>
              <a:t>Balding et al. (2006) — Current Protocols in Human Genetics</a:t>
            </a:r>
            <a:r>
              <a:rPr lang="en-US" dirty="0">
                <a:solidFill>
                  <a:schemeClr val="bg1"/>
                </a:solidFill>
              </a:rPr>
              <a:t> </a:t>
            </a:r>
          </a:p>
        </p:txBody>
      </p:sp>
      <p:sp>
        <p:nvSpPr>
          <p:cNvPr id="37" name="Shape 3">
            <a:extLst>
              <a:ext uri="{FF2B5EF4-FFF2-40B4-BE49-F238E27FC236}">
                <a16:creationId xmlns:a16="http://schemas.microsoft.com/office/drawing/2014/main" id="{E7421711-4132-D512-24A3-143E64E025C5}"/>
              </a:ext>
            </a:extLst>
          </p:cNvPr>
          <p:cNvSpPr/>
          <p:nvPr/>
        </p:nvSpPr>
        <p:spPr>
          <a:xfrm>
            <a:off x="4663442" y="3215806"/>
            <a:ext cx="4251960" cy="1736605"/>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lIns="91440" tIns="45720" rIns="91440" bIns="45720" anchor="t"/>
          <a:lstStyle/>
          <a:p>
            <a:endParaRPr lang="en-US" dirty="0"/>
          </a:p>
          <a:p>
            <a:r>
              <a:rPr lang="en-US" sz="1050" dirty="0" err="1">
                <a:latin typeface="Calibri" panose="020F0502020204030204" pitchFamily="34" charset="0"/>
                <a:ea typeface="Calibri" panose="020F0502020204030204" pitchFamily="34" charset="0"/>
                <a:cs typeface="Calibri" panose="020F0502020204030204" pitchFamily="34" charset="0"/>
              </a:rPr>
              <a:t>ClinVar</a:t>
            </a:r>
            <a:r>
              <a:rPr lang="en-US" sz="1050" dirty="0">
                <a:latin typeface="Calibri" panose="020F0502020204030204" pitchFamily="34" charset="0"/>
                <a:ea typeface="Calibri" panose="020F0502020204030204" pitchFamily="34" charset="0"/>
                <a:cs typeface="Calibri" panose="020F0502020204030204" pitchFamily="34" charset="0"/>
              </a:rPr>
              <a:t>: Public Archive of Relationships Among Sequence Variation and Human Phenotype</a:t>
            </a:r>
          </a:p>
          <a:p>
            <a:endParaRPr lang="en-US" sz="1050" dirty="0">
              <a:latin typeface="Calibri" panose="020F0502020204030204" pitchFamily="34" charset="0"/>
              <a:ea typeface="Calibri" panose="020F0502020204030204" pitchFamily="34" charset="0"/>
              <a:cs typeface="Calibri" panose="020F0502020204030204" pitchFamily="34" charset="0"/>
            </a:endParaRPr>
          </a:p>
          <a:p>
            <a:r>
              <a:rPr lang="en-US" sz="1050">
                <a:ea typeface="+mn-lt"/>
                <a:cs typeface="+mn-lt"/>
              </a:rPr>
              <a:t>Ancestry Gaps in Cardiovascular GWAS: A Multi-Database Review of African Representation in Genomic Studies</a:t>
            </a:r>
            <a:endParaRPr lang="en-US"/>
          </a:p>
          <a:p>
            <a:r>
              <a:rPr lang="en-US" sz="950" dirty="0">
                <a:solidFill>
                  <a:srgbClr val="97ACBD"/>
                </a:solidFill>
                <a:ea typeface="+mn-lt"/>
                <a:cs typeface="+mn-lt"/>
              </a:rPr>
              <a:t>Documents the systemic underrepresentation of African ancestry populations </a:t>
            </a:r>
            <a:r>
              <a:rPr lang="en-US" sz="950">
                <a:solidFill>
                  <a:srgbClr val="97ACBD"/>
                </a:solidFill>
                <a:ea typeface="+mn-lt"/>
                <a:cs typeface="+mn-lt"/>
              </a:rPr>
              <a:t>across GWAS databases — providing direct support that shared T1D–</a:t>
            </a:r>
            <a:r>
              <a:rPr lang="en-US" sz="950" dirty="0">
                <a:solidFill>
                  <a:srgbClr val="97ACBD"/>
                </a:solidFill>
                <a:ea typeface="+mn-lt"/>
                <a:cs typeface="+mn-lt"/>
              </a:rPr>
              <a:t>allergy loci have never been meaningfully studied in Black populations.</a:t>
            </a:r>
            <a:endParaRPr lang="en-US" dirty="0">
              <a:ea typeface="+mn-lt"/>
              <a:cs typeface="+mn-lt"/>
            </a:endParaRPr>
          </a:p>
        </p:txBody>
      </p:sp>
      <p:sp>
        <p:nvSpPr>
          <p:cNvPr id="38" name="Shape 4">
            <a:extLst>
              <a:ext uri="{FF2B5EF4-FFF2-40B4-BE49-F238E27FC236}">
                <a16:creationId xmlns:a16="http://schemas.microsoft.com/office/drawing/2014/main" id="{7204D620-E77F-6C95-A434-7F84DA1FE10F}"/>
              </a:ext>
            </a:extLst>
          </p:cNvPr>
          <p:cNvSpPr/>
          <p:nvPr/>
        </p:nvSpPr>
        <p:spPr>
          <a:xfrm>
            <a:off x="4663442" y="3215806"/>
            <a:ext cx="4251960" cy="685800"/>
          </a:xfrm>
          <a:prstGeom prst="rect">
            <a:avLst/>
          </a:prstGeom>
          <a:solidFill>
            <a:srgbClr val="2E5B8A"/>
          </a:solidFill>
          <a:ln w="12700">
            <a:solidFill>
              <a:srgbClr val="4DA6D9"/>
            </a:solidFill>
            <a:prstDash val="solid"/>
          </a:ln>
        </p:spPr>
        <p:txBody>
          <a:bodyPr lIns="91440" tIns="45720" rIns="91440" bIns="45720" anchor="t"/>
          <a:lstStyle/>
          <a:p>
            <a:r>
              <a:rPr lang="en-US" b="1">
                <a:solidFill>
                  <a:schemeClr val="bg1"/>
                </a:solidFill>
                <a:ea typeface="+mn-lt"/>
                <a:cs typeface="+mn-lt"/>
              </a:rPr>
              <a:t>Pomales-Matos et al. (2025) — Frontiers in Genetics</a:t>
            </a:r>
            <a:endParaRPr lang="en-US" b="1">
              <a:solidFill>
                <a:schemeClr val="bg1"/>
              </a:solidFill>
            </a:endParaRPr>
          </a:p>
        </p:txBody>
      </p:sp>
    </p:spTree>
    <p:extLst>
      <p:ext uri="{BB962C8B-B14F-4D97-AF65-F5344CB8AC3E}">
        <p14:creationId xmlns:p14="http://schemas.microsoft.com/office/powerpoint/2010/main" val="1224576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137160"/>
            <a:ext cx="82296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Calibri" pitchFamily="34" charset="0"/>
                <a:ea typeface="Calibri" pitchFamily="34" charset="-122"/>
                <a:cs typeface="Calibri" pitchFamily="34" charset="-120"/>
              </a:rPr>
              <a:t>THE DATA</a:t>
            </a:r>
            <a:endParaRPr lang="en-US" sz="2600" dirty="0"/>
          </a:p>
        </p:txBody>
      </p:sp>
      <p:sp>
        <p:nvSpPr>
          <p:cNvPr id="4" name="Shape 2"/>
          <p:cNvSpPr/>
          <p:nvPr/>
        </p:nvSpPr>
        <p:spPr>
          <a:xfrm>
            <a:off x="320040" y="1051560"/>
            <a:ext cx="2743200" cy="374904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320040" y="1051560"/>
            <a:ext cx="2743200" cy="594360"/>
          </a:xfrm>
          <a:prstGeom prst="rect">
            <a:avLst/>
          </a:prstGeom>
          <a:solidFill>
            <a:srgbClr val="1B2A4A"/>
          </a:solidFill>
          <a:ln w="12700">
            <a:solidFill>
              <a:srgbClr val="1B2A4A"/>
            </a:solidFill>
            <a:prstDash val="solid"/>
          </a:ln>
        </p:spPr>
        <p:txBody>
          <a:bodyPr/>
          <a:lstStyle/>
          <a:p>
            <a:endParaRPr lang="en-US"/>
          </a:p>
        </p:txBody>
      </p:sp>
      <p:sp>
        <p:nvSpPr>
          <p:cNvPr id="6" name="Text 4"/>
          <p:cNvSpPr/>
          <p:nvPr/>
        </p:nvSpPr>
        <p:spPr>
          <a:xfrm>
            <a:off x="320040" y="1097280"/>
            <a:ext cx="274320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ClinVar / NCBI</a:t>
            </a:r>
            <a:endParaRPr lang="en-US" sz="1400" dirty="0"/>
          </a:p>
        </p:txBody>
      </p:sp>
      <p:sp>
        <p:nvSpPr>
          <p:cNvPr id="7" name="Text 5"/>
          <p:cNvSpPr/>
          <p:nvPr/>
        </p:nvSpPr>
        <p:spPr>
          <a:xfrm>
            <a:off x="320040" y="1417320"/>
            <a:ext cx="2743200" cy="201168"/>
          </a:xfrm>
          <a:prstGeom prst="rect">
            <a:avLst/>
          </a:prstGeom>
          <a:noFill/>
          <a:ln/>
        </p:spPr>
        <p:txBody>
          <a:bodyPr wrap="square" lIns="0" tIns="0" rIns="0" bIns="0"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variant_summary.txt</a:t>
            </a:r>
            <a:endParaRPr lang="en-US" sz="950" dirty="0"/>
          </a:p>
        </p:txBody>
      </p:sp>
      <p:sp>
        <p:nvSpPr>
          <p:cNvPr id="8" name="Shape 6"/>
          <p:cNvSpPr/>
          <p:nvPr/>
        </p:nvSpPr>
        <p:spPr>
          <a:xfrm>
            <a:off x="457200" y="1783080"/>
            <a:ext cx="2468880" cy="365760"/>
          </a:xfrm>
          <a:prstGeom prst="rect">
            <a:avLst/>
          </a:prstGeom>
          <a:solidFill>
            <a:srgbClr val="D8ECF5"/>
          </a:solidFill>
          <a:ln w="12700">
            <a:solidFill>
              <a:srgbClr val="D8ECF5"/>
            </a:solidFill>
            <a:prstDash val="solid"/>
          </a:ln>
        </p:spPr>
        <p:txBody>
          <a:bodyPr/>
          <a:lstStyle/>
          <a:p>
            <a:endParaRPr lang="en-US"/>
          </a:p>
        </p:txBody>
      </p:sp>
      <p:sp>
        <p:nvSpPr>
          <p:cNvPr id="9" name="Text 7"/>
          <p:cNvSpPr/>
          <p:nvPr/>
        </p:nvSpPr>
        <p:spPr>
          <a:xfrm>
            <a:off x="457200" y="1783080"/>
            <a:ext cx="2468880" cy="365760"/>
          </a:xfrm>
          <a:prstGeom prst="rect">
            <a:avLst/>
          </a:prstGeom>
          <a:noFill/>
          <a:ln/>
        </p:spPr>
        <p:txBody>
          <a:bodyPr wrap="square" lIns="0" tIns="0" rIns="0" bIns="0" rtlCol="0" anchor="ctr"/>
          <a:lstStyle/>
          <a:p>
            <a:pPr marL="0" indent="0" algn="ctr">
              <a:buNone/>
            </a:pPr>
            <a:r>
              <a:rPr lang="en-US" sz="1100" b="1" dirty="0">
                <a:solidFill>
                  <a:srgbClr val="1B2A4A"/>
                </a:solidFill>
                <a:latin typeface="Calibri" pitchFamily="34" charset="0"/>
                <a:ea typeface="Calibri" pitchFamily="34" charset="-122"/>
                <a:cs typeface="Calibri" pitchFamily="34" charset="-120"/>
              </a:rPr>
              <a:t>8,887,816 rows</a:t>
            </a:r>
            <a:endParaRPr lang="en-US" sz="1100" dirty="0"/>
          </a:p>
        </p:txBody>
      </p:sp>
      <p:sp>
        <p:nvSpPr>
          <p:cNvPr id="10" name="Shape 8"/>
          <p:cNvSpPr/>
          <p:nvPr/>
        </p:nvSpPr>
        <p:spPr>
          <a:xfrm>
            <a:off x="457200" y="2258568"/>
            <a:ext cx="2468880" cy="365760"/>
          </a:xfrm>
          <a:prstGeom prst="rect">
            <a:avLst/>
          </a:prstGeom>
          <a:solidFill>
            <a:srgbClr val="D8ECF5"/>
          </a:solidFill>
          <a:ln w="12700">
            <a:solidFill>
              <a:srgbClr val="D8ECF5"/>
            </a:solidFill>
            <a:prstDash val="solid"/>
          </a:ln>
        </p:spPr>
        <p:txBody>
          <a:bodyPr/>
          <a:lstStyle/>
          <a:p>
            <a:endParaRPr lang="en-US"/>
          </a:p>
        </p:txBody>
      </p:sp>
      <p:sp>
        <p:nvSpPr>
          <p:cNvPr id="11" name="Text 9"/>
          <p:cNvSpPr/>
          <p:nvPr/>
        </p:nvSpPr>
        <p:spPr>
          <a:xfrm>
            <a:off x="457200" y="2258568"/>
            <a:ext cx="2468880" cy="365760"/>
          </a:xfrm>
          <a:prstGeom prst="rect">
            <a:avLst/>
          </a:prstGeom>
          <a:noFill/>
          <a:ln/>
        </p:spPr>
        <p:txBody>
          <a:bodyPr wrap="square" lIns="0" tIns="0" rIns="0" bIns="0" rtlCol="0" anchor="ctr"/>
          <a:lstStyle/>
          <a:p>
            <a:pPr marL="0" indent="0" algn="ctr">
              <a:buNone/>
            </a:pPr>
            <a:r>
              <a:rPr lang="en-US" sz="1100" b="1" dirty="0">
                <a:solidFill>
                  <a:srgbClr val="1B2A4A"/>
                </a:solidFill>
                <a:latin typeface="Calibri" pitchFamily="34" charset="0"/>
                <a:ea typeface="Calibri" pitchFamily="34" charset="-122"/>
                <a:cs typeface="Calibri" pitchFamily="34" charset="-120"/>
              </a:rPr>
              <a:t>43 columns</a:t>
            </a:r>
            <a:endParaRPr lang="en-US" sz="1100" dirty="0"/>
          </a:p>
        </p:txBody>
      </p:sp>
      <p:sp>
        <p:nvSpPr>
          <p:cNvPr id="12" name="Shape 10"/>
          <p:cNvSpPr/>
          <p:nvPr/>
        </p:nvSpPr>
        <p:spPr>
          <a:xfrm>
            <a:off x="457200" y="2734056"/>
            <a:ext cx="2468880" cy="365760"/>
          </a:xfrm>
          <a:prstGeom prst="rect">
            <a:avLst/>
          </a:prstGeom>
          <a:solidFill>
            <a:srgbClr val="D8ECF5"/>
          </a:solidFill>
          <a:ln w="12700">
            <a:solidFill>
              <a:srgbClr val="D8ECF5"/>
            </a:solidFill>
            <a:prstDash val="solid"/>
          </a:ln>
        </p:spPr>
        <p:txBody>
          <a:bodyPr/>
          <a:lstStyle/>
          <a:p>
            <a:endParaRPr lang="en-US"/>
          </a:p>
        </p:txBody>
      </p:sp>
      <p:sp>
        <p:nvSpPr>
          <p:cNvPr id="13" name="Text 11"/>
          <p:cNvSpPr/>
          <p:nvPr/>
        </p:nvSpPr>
        <p:spPr>
          <a:xfrm>
            <a:off x="457200" y="2734056"/>
            <a:ext cx="2468880" cy="365760"/>
          </a:xfrm>
          <a:prstGeom prst="rect">
            <a:avLst/>
          </a:prstGeom>
          <a:noFill/>
          <a:ln/>
        </p:spPr>
        <p:txBody>
          <a:bodyPr wrap="square" lIns="0" tIns="0" rIns="0" bIns="0" rtlCol="0" anchor="ctr"/>
          <a:lstStyle/>
          <a:p>
            <a:pPr marL="0" indent="0" algn="ctr">
              <a:buNone/>
            </a:pPr>
            <a:r>
              <a:rPr lang="en-US" sz="1100" b="1" dirty="0">
                <a:solidFill>
                  <a:srgbClr val="1B2A4A"/>
                </a:solidFill>
                <a:latin typeface="Calibri" pitchFamily="34" charset="0"/>
                <a:ea typeface="Calibri" pitchFamily="34" charset="-122"/>
                <a:cs typeface="Calibri" pitchFamily="34" charset="-120"/>
              </a:rPr>
              <a:t>0 null values</a:t>
            </a:r>
            <a:endParaRPr lang="en-US" sz="1100" dirty="0"/>
          </a:p>
        </p:txBody>
      </p:sp>
      <p:sp>
        <p:nvSpPr>
          <p:cNvPr id="14" name="Text 12"/>
          <p:cNvSpPr/>
          <p:nvPr/>
        </p:nvSpPr>
        <p:spPr>
          <a:xfrm>
            <a:off x="429768" y="3246120"/>
            <a:ext cx="2523744" cy="1463040"/>
          </a:xfrm>
          <a:prstGeom prst="rect">
            <a:avLst/>
          </a:prstGeom>
          <a:noFill/>
          <a:ln/>
        </p:spPr>
        <p:txBody>
          <a:bodyPr wrap="square" lIns="0" tIns="0" rIns="0" bIns="0" rtlCol="0" anchor="t"/>
          <a:lstStyle/>
          <a:p>
            <a:pPr marL="0" indent="0">
              <a:buNone/>
            </a:pPr>
            <a:r>
              <a:rPr lang="en-US" sz="1000" dirty="0">
                <a:solidFill>
                  <a:srgbClr val="5A7A96"/>
                </a:solidFill>
                <a:latin typeface="Calibri" pitchFamily="34" charset="0"/>
                <a:ea typeface="Calibri" pitchFamily="34" charset="-122"/>
                <a:cs typeface="Calibri" pitchFamily="34" charset="-120"/>
              </a:rPr>
              <a:t>Industry-standard bridge between raw genetic variants and clinical phenotypes. Used to identify T1D and anaphylaxis-related variants and validate shared SNPs.</a:t>
            </a:r>
            <a:endParaRPr lang="en-US" sz="1000" dirty="0"/>
          </a:p>
        </p:txBody>
      </p:sp>
      <p:sp>
        <p:nvSpPr>
          <p:cNvPr id="15" name="Shape 13"/>
          <p:cNvSpPr/>
          <p:nvPr/>
        </p:nvSpPr>
        <p:spPr>
          <a:xfrm>
            <a:off x="3246120" y="1051560"/>
            <a:ext cx="2743200" cy="374904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3246120" y="1051560"/>
            <a:ext cx="2743200" cy="594360"/>
          </a:xfrm>
          <a:prstGeom prst="rect">
            <a:avLst/>
          </a:prstGeom>
          <a:solidFill>
            <a:srgbClr val="2E5B8A"/>
          </a:solidFill>
          <a:ln w="12700">
            <a:solidFill>
              <a:srgbClr val="2E5B8A"/>
            </a:solidFill>
            <a:prstDash val="solid"/>
          </a:ln>
        </p:spPr>
        <p:txBody>
          <a:bodyPr/>
          <a:lstStyle/>
          <a:p>
            <a:endParaRPr lang="en-US"/>
          </a:p>
        </p:txBody>
      </p:sp>
      <p:sp>
        <p:nvSpPr>
          <p:cNvPr id="17" name="Text 15"/>
          <p:cNvSpPr/>
          <p:nvPr/>
        </p:nvSpPr>
        <p:spPr>
          <a:xfrm>
            <a:off x="3246120" y="1097280"/>
            <a:ext cx="274320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GWAS Catalog</a:t>
            </a:r>
            <a:endParaRPr lang="en-US" sz="1400" dirty="0"/>
          </a:p>
        </p:txBody>
      </p:sp>
      <p:sp>
        <p:nvSpPr>
          <p:cNvPr id="18" name="Text 16"/>
          <p:cNvSpPr/>
          <p:nvPr/>
        </p:nvSpPr>
        <p:spPr>
          <a:xfrm>
            <a:off x="3246120" y="1417320"/>
            <a:ext cx="2743200" cy="201168"/>
          </a:xfrm>
          <a:prstGeom prst="rect">
            <a:avLst/>
          </a:prstGeom>
          <a:noFill/>
          <a:ln/>
        </p:spPr>
        <p:txBody>
          <a:bodyPr wrap="square" lIns="0" tIns="0" rIns="0" bIns="0"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Associations data</a:t>
            </a:r>
            <a:endParaRPr lang="en-US" sz="950" dirty="0"/>
          </a:p>
        </p:txBody>
      </p:sp>
      <p:sp>
        <p:nvSpPr>
          <p:cNvPr id="19" name="Shape 17"/>
          <p:cNvSpPr/>
          <p:nvPr/>
        </p:nvSpPr>
        <p:spPr>
          <a:xfrm>
            <a:off x="3383280" y="1783080"/>
            <a:ext cx="2468880" cy="365760"/>
          </a:xfrm>
          <a:prstGeom prst="rect">
            <a:avLst/>
          </a:prstGeom>
          <a:solidFill>
            <a:srgbClr val="D8ECF5"/>
          </a:solidFill>
          <a:ln w="12700">
            <a:solidFill>
              <a:srgbClr val="D8ECF5"/>
            </a:solidFill>
            <a:prstDash val="solid"/>
          </a:ln>
        </p:spPr>
        <p:txBody>
          <a:bodyPr/>
          <a:lstStyle/>
          <a:p>
            <a:endParaRPr lang="en-US"/>
          </a:p>
        </p:txBody>
      </p:sp>
      <p:sp>
        <p:nvSpPr>
          <p:cNvPr id="20" name="Text 18"/>
          <p:cNvSpPr/>
          <p:nvPr/>
        </p:nvSpPr>
        <p:spPr>
          <a:xfrm>
            <a:off x="3383280" y="1783080"/>
            <a:ext cx="2468880" cy="365760"/>
          </a:xfrm>
          <a:prstGeom prst="rect">
            <a:avLst/>
          </a:prstGeom>
          <a:noFill/>
          <a:ln/>
        </p:spPr>
        <p:txBody>
          <a:bodyPr wrap="square" lIns="0" tIns="0" rIns="0" bIns="0" rtlCol="0" anchor="ctr"/>
          <a:lstStyle/>
          <a:p>
            <a:pPr marL="0" indent="0" algn="ctr">
              <a:buNone/>
            </a:pPr>
            <a:r>
              <a:rPr lang="en-US" sz="1100" b="1" dirty="0">
                <a:solidFill>
                  <a:srgbClr val="2E5B8A"/>
                </a:solidFill>
                <a:latin typeface="Calibri" pitchFamily="34" charset="0"/>
                <a:ea typeface="Calibri" pitchFamily="34" charset="-122"/>
                <a:cs typeface="Calibri" pitchFamily="34" charset="-120"/>
              </a:rPr>
              <a:t>1,061,816 rows</a:t>
            </a:r>
            <a:endParaRPr lang="en-US" sz="1100" dirty="0"/>
          </a:p>
        </p:txBody>
      </p:sp>
      <p:sp>
        <p:nvSpPr>
          <p:cNvPr id="21" name="Shape 19"/>
          <p:cNvSpPr/>
          <p:nvPr/>
        </p:nvSpPr>
        <p:spPr>
          <a:xfrm>
            <a:off x="3383280" y="2258568"/>
            <a:ext cx="2468880" cy="365760"/>
          </a:xfrm>
          <a:prstGeom prst="rect">
            <a:avLst/>
          </a:prstGeom>
          <a:solidFill>
            <a:srgbClr val="D8ECF5"/>
          </a:solidFill>
          <a:ln w="12700">
            <a:solidFill>
              <a:srgbClr val="D8ECF5"/>
            </a:solidFill>
            <a:prstDash val="solid"/>
          </a:ln>
        </p:spPr>
        <p:txBody>
          <a:bodyPr/>
          <a:lstStyle/>
          <a:p>
            <a:endParaRPr lang="en-US"/>
          </a:p>
        </p:txBody>
      </p:sp>
      <p:sp>
        <p:nvSpPr>
          <p:cNvPr id="22" name="Text 20"/>
          <p:cNvSpPr/>
          <p:nvPr/>
        </p:nvSpPr>
        <p:spPr>
          <a:xfrm>
            <a:off x="3383280" y="2258568"/>
            <a:ext cx="2468880" cy="365760"/>
          </a:xfrm>
          <a:prstGeom prst="rect">
            <a:avLst/>
          </a:prstGeom>
          <a:noFill/>
          <a:ln/>
        </p:spPr>
        <p:txBody>
          <a:bodyPr wrap="square" lIns="0" tIns="0" rIns="0" bIns="0" rtlCol="0" anchor="ctr"/>
          <a:lstStyle/>
          <a:p>
            <a:pPr marL="0" indent="0" algn="ctr">
              <a:buNone/>
            </a:pPr>
            <a:r>
              <a:rPr lang="en-US" sz="1100" b="1" dirty="0">
                <a:solidFill>
                  <a:srgbClr val="2E5B8A"/>
                </a:solidFill>
                <a:latin typeface="Calibri" pitchFamily="34" charset="0"/>
                <a:ea typeface="Calibri" pitchFamily="34" charset="-122"/>
                <a:cs typeface="Calibri" pitchFamily="34" charset="-120"/>
              </a:rPr>
              <a:t>38 columns</a:t>
            </a:r>
            <a:endParaRPr lang="en-US" sz="1100" dirty="0"/>
          </a:p>
        </p:txBody>
      </p:sp>
      <p:sp>
        <p:nvSpPr>
          <p:cNvPr id="23" name="Shape 21"/>
          <p:cNvSpPr/>
          <p:nvPr/>
        </p:nvSpPr>
        <p:spPr>
          <a:xfrm>
            <a:off x="3383280" y="2734056"/>
            <a:ext cx="2468880" cy="365760"/>
          </a:xfrm>
          <a:prstGeom prst="rect">
            <a:avLst/>
          </a:prstGeom>
          <a:solidFill>
            <a:srgbClr val="D8ECF5"/>
          </a:solidFill>
          <a:ln w="12700">
            <a:solidFill>
              <a:srgbClr val="D8ECF5"/>
            </a:solidFill>
            <a:prstDash val="solid"/>
          </a:ln>
        </p:spPr>
        <p:txBody>
          <a:bodyPr/>
          <a:lstStyle/>
          <a:p>
            <a:endParaRPr lang="en-US"/>
          </a:p>
        </p:txBody>
      </p:sp>
      <p:sp>
        <p:nvSpPr>
          <p:cNvPr id="24" name="Text 22"/>
          <p:cNvSpPr/>
          <p:nvPr/>
        </p:nvSpPr>
        <p:spPr>
          <a:xfrm>
            <a:off x="3383280" y="2734056"/>
            <a:ext cx="2468880" cy="365760"/>
          </a:xfrm>
          <a:prstGeom prst="rect">
            <a:avLst/>
          </a:prstGeom>
          <a:noFill/>
          <a:ln/>
        </p:spPr>
        <p:txBody>
          <a:bodyPr wrap="square" lIns="0" tIns="0" rIns="0" bIns="0" rtlCol="0" anchor="ctr"/>
          <a:lstStyle/>
          <a:p>
            <a:pPr marL="0" indent="0" algn="ctr">
              <a:buNone/>
            </a:pPr>
            <a:r>
              <a:rPr lang="en-US" sz="1100" b="1" dirty="0">
                <a:solidFill>
                  <a:srgbClr val="2E5B8A"/>
                </a:solidFill>
                <a:latin typeface="Calibri" pitchFamily="34" charset="0"/>
                <a:ea typeface="Calibri" pitchFamily="34" charset="-122"/>
                <a:cs typeface="Calibri" pitchFamily="34" charset="-120"/>
              </a:rPr>
              <a:t>5,800+ unique diseases</a:t>
            </a:r>
            <a:endParaRPr lang="en-US" sz="1100" dirty="0"/>
          </a:p>
        </p:txBody>
      </p:sp>
      <p:sp>
        <p:nvSpPr>
          <p:cNvPr id="25" name="Text 23"/>
          <p:cNvSpPr/>
          <p:nvPr/>
        </p:nvSpPr>
        <p:spPr>
          <a:xfrm>
            <a:off x="3355848" y="3246120"/>
            <a:ext cx="2523744" cy="1463040"/>
          </a:xfrm>
          <a:prstGeom prst="rect">
            <a:avLst/>
          </a:prstGeom>
          <a:noFill/>
          <a:ln/>
        </p:spPr>
        <p:txBody>
          <a:bodyPr wrap="square" lIns="0" tIns="0" rIns="0" bIns="0" rtlCol="0" anchor="t"/>
          <a:lstStyle/>
          <a:p>
            <a:pPr marL="0" indent="0">
              <a:buNone/>
            </a:pPr>
            <a:r>
              <a:rPr lang="en-US" sz="1000" dirty="0">
                <a:solidFill>
                  <a:srgbClr val="5A7A96"/>
                </a:solidFill>
                <a:latin typeface="Calibri" pitchFamily="34" charset="0"/>
                <a:ea typeface="Calibri" pitchFamily="34" charset="-122"/>
                <a:cs typeface="Calibri" pitchFamily="34" charset="-120"/>
              </a:rPr>
              <a:t>Population-scale genotype-phenotype associations. Used to find shared SNPs across T1D and allergic phenotypes at scale.</a:t>
            </a:r>
            <a:endParaRPr lang="en-US" sz="1000" dirty="0"/>
          </a:p>
        </p:txBody>
      </p:sp>
      <p:sp>
        <p:nvSpPr>
          <p:cNvPr id="26" name="Shape 24"/>
          <p:cNvSpPr/>
          <p:nvPr/>
        </p:nvSpPr>
        <p:spPr>
          <a:xfrm>
            <a:off x="6172200" y="1051560"/>
            <a:ext cx="2743200" cy="374904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sp>
        <p:nvSpPr>
          <p:cNvPr id="27" name="Shape 25"/>
          <p:cNvSpPr/>
          <p:nvPr/>
        </p:nvSpPr>
        <p:spPr>
          <a:xfrm>
            <a:off x="6172200" y="1051560"/>
            <a:ext cx="2743200" cy="594360"/>
          </a:xfrm>
          <a:prstGeom prst="rect">
            <a:avLst/>
          </a:prstGeom>
          <a:solidFill>
            <a:srgbClr val="4DA6D9"/>
          </a:solidFill>
          <a:ln w="12700">
            <a:solidFill>
              <a:srgbClr val="4DA6D9"/>
            </a:solidFill>
            <a:prstDash val="solid"/>
          </a:ln>
        </p:spPr>
        <p:txBody>
          <a:bodyPr/>
          <a:lstStyle/>
          <a:p>
            <a:endParaRPr lang="en-US"/>
          </a:p>
        </p:txBody>
      </p:sp>
      <p:sp>
        <p:nvSpPr>
          <p:cNvPr id="28" name="Text 26"/>
          <p:cNvSpPr/>
          <p:nvPr/>
        </p:nvSpPr>
        <p:spPr>
          <a:xfrm>
            <a:off x="6172200" y="1097280"/>
            <a:ext cx="274320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GWAS Ancestry</a:t>
            </a:r>
            <a:endParaRPr lang="en-US" sz="1400" dirty="0"/>
          </a:p>
        </p:txBody>
      </p:sp>
      <p:sp>
        <p:nvSpPr>
          <p:cNvPr id="29" name="Text 27"/>
          <p:cNvSpPr/>
          <p:nvPr/>
        </p:nvSpPr>
        <p:spPr>
          <a:xfrm>
            <a:off x="6172200" y="1417320"/>
            <a:ext cx="2743200" cy="201168"/>
          </a:xfrm>
          <a:prstGeom prst="rect">
            <a:avLst/>
          </a:prstGeom>
          <a:noFill/>
          <a:ln/>
        </p:spPr>
        <p:txBody>
          <a:bodyPr wrap="square" lIns="0" tIns="0" rIns="0" bIns="0"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Ancestries data</a:t>
            </a:r>
            <a:endParaRPr lang="en-US" sz="950" dirty="0"/>
          </a:p>
        </p:txBody>
      </p:sp>
      <p:sp>
        <p:nvSpPr>
          <p:cNvPr id="30" name="Shape 28"/>
          <p:cNvSpPr/>
          <p:nvPr/>
        </p:nvSpPr>
        <p:spPr>
          <a:xfrm>
            <a:off x="6309360" y="1783080"/>
            <a:ext cx="2468880" cy="365760"/>
          </a:xfrm>
          <a:prstGeom prst="rect">
            <a:avLst/>
          </a:prstGeom>
          <a:solidFill>
            <a:srgbClr val="D8ECF5"/>
          </a:solidFill>
          <a:ln w="12700">
            <a:solidFill>
              <a:srgbClr val="D8ECF5"/>
            </a:solidFill>
            <a:prstDash val="solid"/>
          </a:ln>
        </p:spPr>
        <p:txBody>
          <a:bodyPr/>
          <a:lstStyle/>
          <a:p>
            <a:endParaRPr lang="en-US"/>
          </a:p>
        </p:txBody>
      </p:sp>
      <p:sp>
        <p:nvSpPr>
          <p:cNvPr id="31" name="Text 29"/>
          <p:cNvSpPr/>
          <p:nvPr/>
        </p:nvSpPr>
        <p:spPr>
          <a:xfrm>
            <a:off x="6309360" y="1783080"/>
            <a:ext cx="2468880" cy="365760"/>
          </a:xfrm>
          <a:prstGeom prst="rect">
            <a:avLst/>
          </a:prstGeom>
          <a:noFill/>
          <a:ln/>
        </p:spPr>
        <p:txBody>
          <a:bodyPr wrap="square" lIns="0" tIns="0" rIns="0" bIns="0" rtlCol="0" anchor="ctr"/>
          <a:lstStyle/>
          <a:p>
            <a:pPr marL="0" indent="0" algn="ctr">
              <a:buNone/>
            </a:pPr>
            <a:r>
              <a:rPr lang="en-US" sz="1100" b="1" dirty="0">
                <a:solidFill>
                  <a:srgbClr val="4DA6D9"/>
                </a:solidFill>
                <a:latin typeface="Calibri" pitchFamily="34" charset="0"/>
                <a:ea typeface="Calibri" pitchFamily="34" charset="-122"/>
                <a:cs typeface="Calibri" pitchFamily="34" charset="-120"/>
              </a:rPr>
              <a:t>39,980 rows</a:t>
            </a:r>
            <a:endParaRPr lang="en-US" sz="1100" dirty="0"/>
          </a:p>
        </p:txBody>
      </p:sp>
      <p:sp>
        <p:nvSpPr>
          <p:cNvPr id="32" name="Shape 30"/>
          <p:cNvSpPr/>
          <p:nvPr/>
        </p:nvSpPr>
        <p:spPr>
          <a:xfrm>
            <a:off x="6309360" y="2258568"/>
            <a:ext cx="2468880" cy="365760"/>
          </a:xfrm>
          <a:prstGeom prst="rect">
            <a:avLst/>
          </a:prstGeom>
          <a:solidFill>
            <a:srgbClr val="D8ECF5"/>
          </a:solidFill>
          <a:ln w="12700">
            <a:solidFill>
              <a:srgbClr val="D8ECF5"/>
            </a:solidFill>
            <a:prstDash val="solid"/>
          </a:ln>
        </p:spPr>
        <p:txBody>
          <a:bodyPr/>
          <a:lstStyle/>
          <a:p>
            <a:endParaRPr lang="en-US"/>
          </a:p>
        </p:txBody>
      </p:sp>
      <p:sp>
        <p:nvSpPr>
          <p:cNvPr id="33" name="Text 31"/>
          <p:cNvSpPr/>
          <p:nvPr/>
        </p:nvSpPr>
        <p:spPr>
          <a:xfrm>
            <a:off x="6309360" y="2258568"/>
            <a:ext cx="2468880" cy="365760"/>
          </a:xfrm>
          <a:prstGeom prst="rect">
            <a:avLst/>
          </a:prstGeom>
          <a:noFill/>
          <a:ln/>
        </p:spPr>
        <p:txBody>
          <a:bodyPr wrap="square" lIns="0" tIns="0" rIns="0" bIns="0" rtlCol="0" anchor="ctr"/>
          <a:lstStyle/>
          <a:p>
            <a:pPr marL="0" indent="0" algn="ctr">
              <a:buNone/>
            </a:pPr>
            <a:r>
              <a:rPr lang="en-US" sz="1100" b="1" dirty="0">
                <a:solidFill>
                  <a:srgbClr val="4DA6D9"/>
                </a:solidFill>
                <a:latin typeface="Calibri" pitchFamily="34" charset="0"/>
                <a:ea typeface="Calibri" pitchFamily="34" charset="-122"/>
                <a:cs typeface="Calibri" pitchFamily="34" charset="-120"/>
              </a:rPr>
              <a:t>17 columns</a:t>
            </a:r>
            <a:endParaRPr lang="en-US" sz="1100" dirty="0"/>
          </a:p>
        </p:txBody>
      </p:sp>
      <p:sp>
        <p:nvSpPr>
          <p:cNvPr id="34" name="Shape 32"/>
          <p:cNvSpPr/>
          <p:nvPr/>
        </p:nvSpPr>
        <p:spPr>
          <a:xfrm>
            <a:off x="6309360" y="2734056"/>
            <a:ext cx="2468880" cy="365760"/>
          </a:xfrm>
          <a:prstGeom prst="rect">
            <a:avLst/>
          </a:prstGeom>
          <a:solidFill>
            <a:srgbClr val="D8ECF5"/>
          </a:solidFill>
          <a:ln w="12700">
            <a:solidFill>
              <a:srgbClr val="D8ECF5"/>
            </a:solidFill>
            <a:prstDash val="solid"/>
          </a:ln>
        </p:spPr>
        <p:txBody>
          <a:bodyPr/>
          <a:lstStyle/>
          <a:p>
            <a:endParaRPr lang="en-US"/>
          </a:p>
        </p:txBody>
      </p:sp>
      <p:sp>
        <p:nvSpPr>
          <p:cNvPr id="35" name="Text 33"/>
          <p:cNvSpPr/>
          <p:nvPr/>
        </p:nvSpPr>
        <p:spPr>
          <a:xfrm>
            <a:off x="6309360" y="2734056"/>
            <a:ext cx="2468880" cy="365760"/>
          </a:xfrm>
          <a:prstGeom prst="rect">
            <a:avLst/>
          </a:prstGeom>
          <a:noFill/>
          <a:ln/>
        </p:spPr>
        <p:txBody>
          <a:bodyPr wrap="square" lIns="0" tIns="0" rIns="0" bIns="0" rtlCol="0" anchor="ctr"/>
          <a:lstStyle/>
          <a:p>
            <a:pPr marL="0" indent="0" algn="ctr">
              <a:buNone/>
            </a:pPr>
            <a:r>
              <a:rPr lang="en-US" sz="1100" b="1" dirty="0">
                <a:solidFill>
                  <a:srgbClr val="4DA6D9"/>
                </a:solidFill>
                <a:latin typeface="Calibri" pitchFamily="34" charset="0"/>
                <a:ea typeface="Calibri" pitchFamily="34" charset="-122"/>
                <a:cs typeface="Calibri" pitchFamily="34" charset="-120"/>
              </a:rPr>
              <a:t>70%+ Black filter</a:t>
            </a:r>
            <a:endParaRPr lang="en-US" sz="1100" dirty="0"/>
          </a:p>
        </p:txBody>
      </p:sp>
      <p:sp>
        <p:nvSpPr>
          <p:cNvPr id="36" name="Text 34"/>
          <p:cNvSpPr/>
          <p:nvPr/>
        </p:nvSpPr>
        <p:spPr>
          <a:xfrm>
            <a:off x="6281928" y="3246120"/>
            <a:ext cx="2523744" cy="1463040"/>
          </a:xfrm>
          <a:prstGeom prst="rect">
            <a:avLst/>
          </a:prstGeom>
          <a:noFill/>
          <a:ln/>
        </p:spPr>
        <p:txBody>
          <a:bodyPr wrap="square" lIns="0" tIns="0" rIns="0" bIns="0" rtlCol="0" anchor="t"/>
          <a:lstStyle/>
          <a:p>
            <a:pPr marL="0" indent="0">
              <a:buNone/>
            </a:pPr>
            <a:r>
              <a:rPr lang="en-US" sz="1000" dirty="0">
                <a:solidFill>
                  <a:srgbClr val="5A7A96"/>
                </a:solidFill>
                <a:latin typeface="Calibri" pitchFamily="34" charset="0"/>
                <a:ea typeface="Calibri" pitchFamily="34" charset="-122"/>
                <a:cs typeface="Calibri" pitchFamily="34" charset="-120"/>
              </a:rPr>
              <a:t>Demographic data for each GWAS study. Used to isolate studies with predominantly Black participant populations.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137160"/>
            <a:ext cx="8412480" cy="594360"/>
          </a:xfrm>
          <a:prstGeom prst="rect">
            <a:avLst/>
          </a:prstGeom>
          <a:noFill/>
          <a:ln/>
        </p:spPr>
        <p:txBody>
          <a:bodyPr wrap="square" lIns="0" tIns="0" rIns="0" bIns="0" rtlCol="0" anchor="ctr"/>
          <a:lstStyle/>
          <a:p>
            <a:pPr marL="0" indent="0">
              <a:buNone/>
            </a:pPr>
            <a:r>
              <a:rPr lang="en-US" sz="1900" b="1" kern="0" spc="100" dirty="0">
                <a:solidFill>
                  <a:srgbClr val="FFFFFF"/>
                </a:solidFill>
                <a:latin typeface="Calibri" pitchFamily="34" charset="0"/>
                <a:ea typeface="Calibri" pitchFamily="34" charset="-122"/>
                <a:cs typeface="Calibri" pitchFamily="34" charset="-120"/>
              </a:rPr>
              <a:t>CLINVAR ANALYSIS — VARIANT TYPES &amp; CLINICAL SIGNIFICANCE</a:t>
            </a:r>
            <a:endParaRPr lang="en-US" sz="1900" dirty="0"/>
          </a:p>
        </p:txBody>
      </p:sp>
      <p:sp>
        <p:nvSpPr>
          <p:cNvPr id="4" name="Text 2"/>
          <p:cNvSpPr/>
          <p:nvPr/>
        </p:nvSpPr>
        <p:spPr>
          <a:xfrm>
            <a:off x="365760" y="987552"/>
            <a:ext cx="8412480" cy="256032"/>
          </a:xfrm>
          <a:prstGeom prst="rect">
            <a:avLst/>
          </a:prstGeom>
          <a:noFill/>
          <a:ln/>
        </p:spPr>
        <p:txBody>
          <a:bodyPr wrap="square" lIns="0" tIns="0" rIns="0" bIns="0" rtlCol="0" anchor="ctr"/>
          <a:lstStyle/>
          <a:p>
            <a:pPr marL="0" indent="0">
              <a:buNone/>
            </a:pPr>
            <a:r>
              <a:rPr lang="en-US" sz="1000" i="1" dirty="0">
                <a:solidFill>
                  <a:srgbClr val="5A7A96"/>
                </a:solidFill>
                <a:latin typeface="Calibri" pitchFamily="34" charset="0"/>
                <a:ea typeface="Calibri" pitchFamily="34" charset="-122"/>
                <a:cs typeface="Calibri" pitchFamily="34" charset="-120"/>
              </a:rPr>
              <a:t>Source: ClinVar variant_summary  |  8,887,816 rows  |  43 columns  |  0 null values</a:t>
            </a:r>
            <a:endParaRPr lang="en-US" sz="1000" dirty="0"/>
          </a:p>
        </p:txBody>
      </p:sp>
      <p:sp>
        <p:nvSpPr>
          <p:cNvPr id="5" name="Shape 3"/>
          <p:cNvSpPr/>
          <p:nvPr/>
        </p:nvSpPr>
        <p:spPr>
          <a:xfrm>
            <a:off x="274320" y="1298448"/>
            <a:ext cx="4168988" cy="3707892"/>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4"/>
          <p:cNvSpPr/>
          <p:nvPr/>
        </p:nvSpPr>
        <p:spPr>
          <a:xfrm>
            <a:off x="5715000" y="1165013"/>
            <a:ext cx="3154680" cy="2465155"/>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5"/>
          <p:cNvSpPr/>
          <p:nvPr/>
        </p:nvSpPr>
        <p:spPr>
          <a:xfrm>
            <a:off x="5715000" y="3749040"/>
            <a:ext cx="3154680" cy="1115568"/>
          </a:xfrm>
          <a:prstGeom prst="rect">
            <a:avLst/>
          </a:prstGeom>
          <a:solidFill>
            <a:srgbClr val="1B2A4A"/>
          </a:solidFill>
          <a:ln w="12700">
            <a:solidFill>
              <a:srgbClr val="1B2A4A"/>
            </a:solidFill>
            <a:prstDash val="solid"/>
          </a:ln>
          <a:effectLst>
            <a:outerShdw blurRad="101600" dist="38100" dir="8100000" algn="bl" rotWithShape="0">
              <a:srgbClr val="000000">
                <a:alpha val="12000"/>
              </a:srgbClr>
            </a:outerShdw>
          </a:effectLst>
        </p:spPr>
        <p:txBody>
          <a:bodyPr/>
          <a:lstStyle/>
          <a:p>
            <a:endParaRPr lang="en-US"/>
          </a:p>
        </p:txBody>
      </p:sp>
      <p:sp>
        <p:nvSpPr>
          <p:cNvPr id="10" name="Text 6"/>
          <p:cNvSpPr/>
          <p:nvPr/>
        </p:nvSpPr>
        <p:spPr>
          <a:xfrm>
            <a:off x="5715000" y="3794760"/>
            <a:ext cx="3154680" cy="594360"/>
          </a:xfrm>
          <a:prstGeom prst="rect">
            <a:avLst/>
          </a:prstGeom>
          <a:noFill/>
          <a:ln/>
        </p:spPr>
        <p:txBody>
          <a:bodyPr wrap="square" lIns="0" tIns="0" rIns="0" bIns="0" rtlCol="0" anchor="ctr"/>
          <a:lstStyle/>
          <a:p>
            <a:pPr marL="0" indent="0" algn="ctr">
              <a:buNone/>
            </a:pPr>
            <a:r>
              <a:rPr lang="en-US" sz="3200" b="1" dirty="0">
                <a:solidFill>
                  <a:srgbClr val="E8A838"/>
                </a:solidFill>
                <a:latin typeface="Calibri" pitchFamily="34" charset="0"/>
                <a:ea typeface="Calibri" pitchFamily="34" charset="-122"/>
                <a:cs typeface="Calibri" pitchFamily="34" charset="-120"/>
              </a:rPr>
              <a:t>5.8K</a:t>
            </a:r>
            <a:endParaRPr lang="en-US" sz="3200" dirty="0"/>
          </a:p>
        </p:txBody>
      </p:sp>
      <p:sp>
        <p:nvSpPr>
          <p:cNvPr id="11" name="Text 7"/>
          <p:cNvSpPr>
            <a:spLocks noGrp="1" noRot="1" noMove="1" noResize="1" noEditPoints="1" noAdjustHandles="1" noChangeArrowheads="1" noChangeShapeType="1"/>
          </p:cNvSpPr>
          <p:nvPr/>
        </p:nvSpPr>
        <p:spPr>
          <a:xfrm>
            <a:off x="5715000" y="4370832"/>
            <a:ext cx="3154680" cy="411480"/>
          </a:xfrm>
          <a:prstGeom prst="rect">
            <a:avLst/>
          </a:prstGeom>
          <a:noFill/>
          <a:ln/>
        </p:spPr>
        <p:txBody>
          <a:bodyPr wrap="square" lIns="0" tIns="0" rIns="0" bIns="0" rtlCol="0" anchor="ctr"/>
          <a:lstStyle/>
          <a:p>
            <a:pPr marL="0" indent="0" algn="ctr">
              <a:buNone/>
            </a:pPr>
            <a:r>
              <a:rPr lang="en-US" sz="1000" dirty="0">
                <a:solidFill>
                  <a:srgbClr val="8AAFC8"/>
                </a:solidFill>
                <a:latin typeface="Calibri" pitchFamily="34" charset="0"/>
                <a:ea typeface="Calibri" pitchFamily="34" charset="-122"/>
                <a:cs typeface="Calibri" pitchFamily="34" charset="-120"/>
              </a:rPr>
              <a:t>Unique Diseases in GWAS Catalog</a:t>
            </a:r>
            <a:endParaRPr lang="en-US" sz="1000" dirty="0"/>
          </a:p>
        </p:txBody>
      </p:sp>
      <p:pic>
        <p:nvPicPr>
          <p:cNvPr id="13" name="Picture 12">
            <a:extLst>
              <a:ext uri="{FF2B5EF4-FFF2-40B4-BE49-F238E27FC236}">
                <a16:creationId xmlns:a16="http://schemas.microsoft.com/office/drawing/2014/main" id="{25D93792-7BBE-DF33-1F66-EAF413C7B73E}"/>
              </a:ext>
            </a:extLst>
          </p:cNvPr>
          <p:cNvPicPr>
            <a:picLocks noChangeAspect="1"/>
          </p:cNvPicPr>
          <p:nvPr/>
        </p:nvPicPr>
        <p:blipFill>
          <a:blip r:embed="rId3"/>
          <a:stretch>
            <a:fillRect/>
          </a:stretch>
        </p:blipFill>
        <p:spPr>
          <a:xfrm>
            <a:off x="324273" y="1348600"/>
            <a:ext cx="4069081" cy="3607588"/>
          </a:xfrm>
          <a:prstGeom prst="rect">
            <a:avLst/>
          </a:prstGeom>
        </p:spPr>
      </p:pic>
      <p:pic>
        <p:nvPicPr>
          <p:cNvPr id="18" name="Picture 17">
            <a:extLst>
              <a:ext uri="{FF2B5EF4-FFF2-40B4-BE49-F238E27FC236}">
                <a16:creationId xmlns:a16="http://schemas.microsoft.com/office/drawing/2014/main" id="{7AB28B44-B598-6F8F-A8EB-D6989674DC1F}"/>
              </a:ext>
            </a:extLst>
          </p:cNvPr>
          <p:cNvPicPr>
            <a:picLocks noChangeAspect="1"/>
          </p:cNvPicPr>
          <p:nvPr/>
        </p:nvPicPr>
        <p:blipFill>
          <a:blip r:embed="rId4"/>
          <a:stretch>
            <a:fillRect/>
          </a:stretch>
        </p:blipFill>
        <p:spPr>
          <a:xfrm>
            <a:off x="5831417" y="1291234"/>
            <a:ext cx="2921846" cy="221271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137160"/>
            <a:ext cx="8412480" cy="594360"/>
          </a:xfrm>
          <a:prstGeom prst="rect">
            <a:avLst/>
          </a:prstGeom>
          <a:noFill/>
          <a:ln/>
        </p:spPr>
        <p:txBody>
          <a:bodyPr wrap="square" lIns="0" tIns="0" rIns="0" bIns="0" rtlCol="0" anchor="ctr"/>
          <a:lstStyle/>
          <a:p>
            <a:pPr marL="0" indent="0">
              <a:buNone/>
            </a:pPr>
            <a:r>
              <a:rPr lang="en-US" sz="1900" b="1" kern="0" spc="100" dirty="0">
                <a:solidFill>
                  <a:srgbClr val="FFFFFF"/>
                </a:solidFill>
                <a:latin typeface="Calibri" pitchFamily="34" charset="0"/>
                <a:ea typeface="Calibri" pitchFamily="34" charset="-122"/>
                <a:cs typeface="Calibri" pitchFamily="34" charset="-120"/>
              </a:rPr>
              <a:t>CLINVAR ANALYSIS — CLINICAL SIGNIFICANCE BY VARIANT TYPE</a:t>
            </a:r>
            <a:endParaRPr lang="en-US" sz="1900" dirty="0"/>
          </a:p>
        </p:txBody>
      </p:sp>
      <p:sp>
        <p:nvSpPr>
          <p:cNvPr id="4" name="Shape 2"/>
          <p:cNvSpPr/>
          <p:nvPr/>
        </p:nvSpPr>
        <p:spPr>
          <a:xfrm>
            <a:off x="921172" y="1005840"/>
            <a:ext cx="7321975" cy="388620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pic>
        <p:nvPicPr>
          <p:cNvPr id="7" name="Picture 6">
            <a:extLst>
              <a:ext uri="{FF2B5EF4-FFF2-40B4-BE49-F238E27FC236}">
                <a16:creationId xmlns:a16="http://schemas.microsoft.com/office/drawing/2014/main" id="{9CFBFD55-2623-49C5-8C33-0300CD7CF503}"/>
              </a:ext>
            </a:extLst>
          </p:cNvPr>
          <p:cNvPicPr>
            <a:picLocks noChangeAspect="1"/>
          </p:cNvPicPr>
          <p:nvPr/>
        </p:nvPicPr>
        <p:blipFill>
          <a:blip r:embed="rId3"/>
          <a:srcRect t="1420"/>
          <a:stretch>
            <a:fillRect/>
          </a:stretch>
        </p:blipFill>
        <p:spPr>
          <a:xfrm>
            <a:off x="1036320" y="1085426"/>
            <a:ext cx="7071360" cy="37270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137160"/>
            <a:ext cx="8412480" cy="594360"/>
          </a:xfrm>
          <a:prstGeom prst="rect">
            <a:avLst/>
          </a:prstGeom>
          <a:noFill/>
          <a:ln/>
        </p:spPr>
        <p:txBody>
          <a:bodyPr wrap="square" lIns="0" tIns="0" rIns="0" bIns="0" rtlCol="0" anchor="ctr"/>
          <a:lstStyle/>
          <a:p>
            <a:pPr marL="0" indent="0">
              <a:buNone/>
            </a:pPr>
            <a:r>
              <a:rPr lang="en-US" sz="1900" b="1" kern="0" spc="100" dirty="0">
                <a:solidFill>
                  <a:srgbClr val="FFFFFF"/>
                </a:solidFill>
                <a:latin typeface="Calibri" pitchFamily="34" charset="0"/>
                <a:ea typeface="Calibri" pitchFamily="34" charset="-122"/>
                <a:cs typeface="Calibri" pitchFamily="34" charset="-120"/>
              </a:rPr>
              <a:t>T1D vs ANAPHYLAXIS — GENE OVERLAP IN CLINVAR</a:t>
            </a:r>
            <a:endParaRPr lang="en-US" sz="1900" dirty="0"/>
          </a:p>
        </p:txBody>
      </p:sp>
      <p:sp>
        <p:nvSpPr>
          <p:cNvPr id="4" name="Text 2"/>
          <p:cNvSpPr/>
          <p:nvPr/>
        </p:nvSpPr>
        <p:spPr>
          <a:xfrm>
            <a:off x="365760" y="960120"/>
            <a:ext cx="8412480" cy="256032"/>
          </a:xfrm>
          <a:prstGeom prst="rect">
            <a:avLst/>
          </a:prstGeom>
          <a:noFill/>
          <a:ln/>
        </p:spPr>
        <p:txBody>
          <a:bodyPr wrap="square" lIns="0" tIns="0" rIns="0" bIns="0" rtlCol="0" anchor="ctr"/>
          <a:lstStyle/>
          <a:p>
            <a:pPr marL="0" indent="0">
              <a:buNone/>
            </a:pPr>
            <a:r>
              <a:rPr lang="en-US" sz="1000" i="1" dirty="0">
                <a:solidFill>
                  <a:srgbClr val="5A7A96"/>
                </a:solidFill>
                <a:latin typeface="Calibri" pitchFamily="34" charset="0"/>
                <a:ea typeface="Calibri" pitchFamily="34" charset="-122"/>
                <a:cs typeface="Calibri" pitchFamily="34" charset="-120"/>
              </a:rPr>
              <a:t>No shared genes identified between T1D and Anaphylaxis in ClinVar — supporting the representation gap hypothesis</a:t>
            </a:r>
            <a:endParaRPr lang="en-US" sz="1000" dirty="0"/>
          </a:p>
        </p:txBody>
      </p:sp>
      <p:sp>
        <p:nvSpPr>
          <p:cNvPr id="5" name="Shape 3"/>
          <p:cNvSpPr/>
          <p:nvPr/>
        </p:nvSpPr>
        <p:spPr>
          <a:xfrm>
            <a:off x="274320" y="1280160"/>
            <a:ext cx="5029200" cy="246888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pic>
        <p:nvPicPr>
          <p:cNvPr id="6" name="Image 0" descr="/home/claude/img_genefreq.png"/>
          <p:cNvPicPr>
            <a:picLocks noChangeAspect="1"/>
          </p:cNvPicPr>
          <p:nvPr/>
        </p:nvPicPr>
        <p:blipFill>
          <a:blip r:embed="rId3"/>
          <a:stretch>
            <a:fillRect/>
          </a:stretch>
        </p:blipFill>
        <p:spPr>
          <a:xfrm>
            <a:off x="320040" y="1325880"/>
            <a:ext cx="4937760" cy="2377440"/>
          </a:xfrm>
          <a:prstGeom prst="rect">
            <a:avLst/>
          </a:prstGeom>
        </p:spPr>
      </p:pic>
      <p:sp>
        <p:nvSpPr>
          <p:cNvPr id="7" name="Shape 4"/>
          <p:cNvSpPr/>
          <p:nvPr/>
        </p:nvSpPr>
        <p:spPr>
          <a:xfrm>
            <a:off x="5486400" y="1280160"/>
            <a:ext cx="3383280" cy="109728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pic>
        <p:nvPicPr>
          <p:cNvPr id="8" name="Image 1" descr="/home/claude/img_cards.png"/>
          <p:cNvPicPr>
            <a:picLocks noChangeAspect="1"/>
          </p:cNvPicPr>
          <p:nvPr/>
        </p:nvPicPr>
        <p:blipFill>
          <a:blip r:embed="rId4"/>
          <a:stretch>
            <a:fillRect/>
          </a:stretch>
        </p:blipFill>
        <p:spPr>
          <a:xfrm>
            <a:off x="5532120" y="1325880"/>
            <a:ext cx="3291840" cy="1005840"/>
          </a:xfrm>
          <a:prstGeom prst="rect">
            <a:avLst/>
          </a:prstGeom>
        </p:spPr>
      </p:pic>
      <p:sp>
        <p:nvSpPr>
          <p:cNvPr id="9" name="Shape 5"/>
          <p:cNvSpPr/>
          <p:nvPr/>
        </p:nvSpPr>
        <p:spPr>
          <a:xfrm>
            <a:off x="274320" y="3840480"/>
            <a:ext cx="5029200" cy="109728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6"/>
          <p:cNvSpPr/>
          <p:nvPr/>
        </p:nvSpPr>
        <p:spPr>
          <a:xfrm>
            <a:off x="5486400" y="2487168"/>
            <a:ext cx="3383280" cy="2450592"/>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pic>
        <p:nvPicPr>
          <p:cNvPr id="12" name="Image 3" descr="/home/claude/img_clinsig_condition.png"/>
          <p:cNvPicPr>
            <a:picLocks noChangeAspect="1"/>
          </p:cNvPicPr>
          <p:nvPr/>
        </p:nvPicPr>
        <p:blipFill>
          <a:blip r:embed="rId5"/>
          <a:stretch>
            <a:fillRect/>
          </a:stretch>
        </p:blipFill>
        <p:spPr>
          <a:xfrm>
            <a:off x="5532120" y="2532888"/>
            <a:ext cx="3291840" cy="2359152"/>
          </a:xfrm>
          <a:prstGeom prst="rect">
            <a:avLst/>
          </a:prstGeom>
        </p:spPr>
      </p:pic>
      <p:pic>
        <p:nvPicPr>
          <p:cNvPr id="24" name="Picture 23">
            <a:extLst>
              <a:ext uri="{FF2B5EF4-FFF2-40B4-BE49-F238E27FC236}">
                <a16:creationId xmlns:a16="http://schemas.microsoft.com/office/drawing/2014/main" id="{7C470F21-C8BA-4BEA-A243-A3F6FD43D1EA}"/>
              </a:ext>
            </a:extLst>
          </p:cNvPr>
          <p:cNvPicPr>
            <a:picLocks noChangeAspect="1"/>
          </p:cNvPicPr>
          <p:nvPr/>
        </p:nvPicPr>
        <p:blipFill>
          <a:blip r:embed="rId6"/>
          <a:stretch>
            <a:fillRect/>
          </a:stretch>
        </p:blipFill>
        <p:spPr>
          <a:xfrm>
            <a:off x="797061" y="3919564"/>
            <a:ext cx="3983717" cy="939111"/>
          </a:xfrm>
          <a:prstGeom prst="rect">
            <a:avLst/>
          </a:prstGeom>
        </p:spPr>
      </p:pic>
      <p:pic>
        <p:nvPicPr>
          <p:cNvPr id="26" name="Picture 25">
            <a:extLst>
              <a:ext uri="{FF2B5EF4-FFF2-40B4-BE49-F238E27FC236}">
                <a16:creationId xmlns:a16="http://schemas.microsoft.com/office/drawing/2014/main" id="{246D1BA4-D25A-0C47-96BF-FDA1D06C41F7}"/>
              </a:ext>
            </a:extLst>
          </p:cNvPr>
          <p:cNvPicPr>
            <a:picLocks noChangeAspect="1"/>
          </p:cNvPicPr>
          <p:nvPr/>
        </p:nvPicPr>
        <p:blipFill>
          <a:blip r:embed="rId7"/>
          <a:stretch>
            <a:fillRect/>
          </a:stretch>
        </p:blipFill>
        <p:spPr>
          <a:xfrm>
            <a:off x="319023" y="3894116"/>
            <a:ext cx="4938777" cy="99078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137160"/>
            <a:ext cx="8412480" cy="594360"/>
          </a:xfrm>
          <a:prstGeom prst="rect">
            <a:avLst/>
          </a:prstGeom>
          <a:noFill/>
          <a:ln/>
        </p:spPr>
        <p:txBody>
          <a:bodyPr wrap="square" lIns="0" tIns="0" rIns="0" bIns="0" rtlCol="0" anchor="ctr"/>
          <a:lstStyle/>
          <a:p>
            <a:pPr marL="0" indent="0">
              <a:buNone/>
            </a:pPr>
            <a:r>
              <a:rPr lang="en-US" sz="1900" b="1" kern="0" spc="100" dirty="0">
                <a:solidFill>
                  <a:srgbClr val="FFFFFF"/>
                </a:solidFill>
                <a:latin typeface="Calibri" pitchFamily="34" charset="0"/>
                <a:ea typeface="Calibri" pitchFamily="34" charset="-122"/>
                <a:cs typeface="Calibri" pitchFamily="34" charset="-120"/>
              </a:rPr>
              <a:t>GWAS CATALOG — REPRESENTATION GAP ANALYSIS</a:t>
            </a:r>
            <a:endParaRPr lang="en-US" sz="1900" dirty="0"/>
          </a:p>
        </p:txBody>
      </p:sp>
      <p:sp>
        <p:nvSpPr>
          <p:cNvPr id="4" name="Text 2"/>
          <p:cNvSpPr/>
          <p:nvPr/>
        </p:nvSpPr>
        <p:spPr>
          <a:xfrm>
            <a:off x="365760" y="960120"/>
            <a:ext cx="8412480" cy="256032"/>
          </a:xfrm>
          <a:prstGeom prst="rect">
            <a:avLst/>
          </a:prstGeom>
          <a:noFill/>
          <a:ln/>
        </p:spPr>
        <p:txBody>
          <a:bodyPr wrap="square" lIns="0" tIns="0" rIns="0" bIns="0" rtlCol="0" anchor="ctr"/>
          <a:lstStyle/>
          <a:p>
            <a:pPr marL="0" indent="0">
              <a:buNone/>
            </a:pPr>
            <a:r>
              <a:rPr lang="en-US" sz="1000" i="1" dirty="0">
                <a:solidFill>
                  <a:srgbClr val="5A7A96"/>
                </a:solidFill>
                <a:latin typeface="Calibri" pitchFamily="34" charset="0"/>
                <a:ea typeface="Calibri" pitchFamily="34" charset="-122"/>
                <a:cs typeface="Calibri" pitchFamily="34" charset="-120"/>
              </a:rPr>
              <a:t>Comparing shared T1D-Allergy SNPs across full GWAS, Black-ancestry filtered studies, and ClinVar clinical validation</a:t>
            </a:r>
            <a:endParaRPr lang="en-US" sz="1000" dirty="0"/>
          </a:p>
        </p:txBody>
      </p:sp>
      <p:sp>
        <p:nvSpPr>
          <p:cNvPr id="5" name="Shape 3"/>
          <p:cNvSpPr/>
          <p:nvPr/>
        </p:nvSpPr>
        <p:spPr>
          <a:xfrm>
            <a:off x="274320" y="1280160"/>
            <a:ext cx="4114800" cy="219456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pic>
        <p:nvPicPr>
          <p:cNvPr id="6" name="Image 0" descr="/home/claude/img_repgap.png"/>
          <p:cNvPicPr>
            <a:picLocks noChangeAspect="1"/>
          </p:cNvPicPr>
          <p:nvPr/>
        </p:nvPicPr>
        <p:blipFill>
          <a:blip r:embed="rId3"/>
          <a:stretch>
            <a:fillRect/>
          </a:stretch>
        </p:blipFill>
        <p:spPr>
          <a:xfrm>
            <a:off x="320040" y="1325880"/>
            <a:ext cx="4023360" cy="2103120"/>
          </a:xfrm>
          <a:prstGeom prst="rect">
            <a:avLst/>
          </a:prstGeom>
        </p:spPr>
      </p:pic>
      <p:sp>
        <p:nvSpPr>
          <p:cNvPr id="7" name="Shape 4"/>
          <p:cNvSpPr/>
          <p:nvPr/>
        </p:nvSpPr>
        <p:spPr>
          <a:xfrm>
            <a:off x="4572000" y="1280160"/>
            <a:ext cx="4297680" cy="219456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pic>
        <p:nvPicPr>
          <p:cNvPr id="8" name="Image 1" descr="/home/claude/img_top5diseases.png"/>
          <p:cNvPicPr>
            <a:picLocks noChangeAspect="1"/>
          </p:cNvPicPr>
          <p:nvPr/>
        </p:nvPicPr>
        <p:blipFill>
          <a:blip r:embed="rId4"/>
          <a:stretch>
            <a:fillRect/>
          </a:stretch>
        </p:blipFill>
        <p:spPr>
          <a:xfrm>
            <a:off x="4617720" y="1325880"/>
            <a:ext cx="4206240" cy="2103120"/>
          </a:xfrm>
          <a:prstGeom prst="rect">
            <a:avLst/>
          </a:prstGeom>
        </p:spPr>
      </p:pic>
      <p:sp>
        <p:nvSpPr>
          <p:cNvPr id="9" name="Shape 5"/>
          <p:cNvSpPr/>
          <p:nvPr/>
        </p:nvSpPr>
        <p:spPr>
          <a:xfrm>
            <a:off x="274320" y="3611880"/>
            <a:ext cx="2743200" cy="137160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pic>
        <p:nvPicPr>
          <p:cNvPr id="10" name="Image 2" descr="/home/claude/img_allpop_donut.png"/>
          <p:cNvPicPr>
            <a:picLocks noChangeAspect="1"/>
          </p:cNvPicPr>
          <p:nvPr/>
        </p:nvPicPr>
        <p:blipFill>
          <a:blip r:embed="rId5"/>
          <a:stretch>
            <a:fillRect/>
          </a:stretch>
        </p:blipFill>
        <p:spPr>
          <a:xfrm>
            <a:off x="320040" y="3657600"/>
            <a:ext cx="2651760" cy="1280160"/>
          </a:xfrm>
          <a:prstGeom prst="rect">
            <a:avLst/>
          </a:prstGeom>
        </p:spPr>
      </p:pic>
      <p:sp>
        <p:nvSpPr>
          <p:cNvPr id="11" name="Shape 6"/>
          <p:cNvSpPr/>
          <p:nvPr/>
        </p:nvSpPr>
        <p:spPr>
          <a:xfrm>
            <a:off x="3154680" y="3611880"/>
            <a:ext cx="2743200" cy="137160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pic>
        <p:nvPicPr>
          <p:cNvPr id="12" name="Image 3" descr="/home/claude/img_blackpop_donut.png"/>
          <p:cNvPicPr>
            <a:picLocks noChangeAspect="1"/>
          </p:cNvPicPr>
          <p:nvPr/>
        </p:nvPicPr>
        <p:blipFill>
          <a:blip r:embed="rId6"/>
          <a:stretch>
            <a:fillRect/>
          </a:stretch>
        </p:blipFill>
        <p:spPr>
          <a:xfrm>
            <a:off x="3200400" y="3657600"/>
            <a:ext cx="2651760" cy="1280160"/>
          </a:xfrm>
          <a:prstGeom prst="rect">
            <a:avLst/>
          </a:prstGeom>
        </p:spPr>
      </p:pic>
      <p:sp>
        <p:nvSpPr>
          <p:cNvPr id="13" name="Shape 7"/>
          <p:cNvSpPr/>
          <p:nvPr/>
        </p:nvSpPr>
        <p:spPr>
          <a:xfrm>
            <a:off x="6035040" y="3611880"/>
            <a:ext cx="2834640" cy="137160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pic>
        <p:nvPicPr>
          <p:cNvPr id="14" name="Image 4" descr="/home/claude/img_mappedgene.png"/>
          <p:cNvPicPr>
            <a:picLocks noChangeAspect="1"/>
          </p:cNvPicPr>
          <p:nvPr/>
        </p:nvPicPr>
        <p:blipFill>
          <a:blip r:embed="rId7"/>
          <a:stretch>
            <a:fillRect/>
          </a:stretch>
        </p:blipFill>
        <p:spPr>
          <a:xfrm>
            <a:off x="6080760" y="3657600"/>
            <a:ext cx="2743200" cy="12801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137160"/>
            <a:ext cx="82296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Calibri" pitchFamily="34" charset="0"/>
                <a:ea typeface="Calibri" pitchFamily="34" charset="-122"/>
                <a:cs typeface="Calibri" pitchFamily="34" charset="-120"/>
              </a:rPr>
              <a:t>WHERE I GOT STUCK</a:t>
            </a:r>
            <a:endParaRPr lang="en-US" sz="2600" dirty="0"/>
          </a:p>
        </p:txBody>
      </p:sp>
      <p:sp>
        <p:nvSpPr>
          <p:cNvPr id="4" name="Shape 2"/>
          <p:cNvSpPr/>
          <p:nvPr/>
        </p:nvSpPr>
        <p:spPr>
          <a:xfrm>
            <a:off x="365760" y="1051560"/>
            <a:ext cx="8412480" cy="868680"/>
          </a:xfrm>
          <a:prstGeom prst="rect">
            <a:avLst/>
          </a:prstGeom>
          <a:solidFill>
            <a:srgbClr val="1B2A4A"/>
          </a:solidFill>
          <a:ln w="12700">
            <a:solidFill>
              <a:srgbClr val="1B2A4A"/>
            </a:solidFill>
            <a:prstDash val="solid"/>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457200" y="1097280"/>
            <a:ext cx="8229600" cy="73152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Filtering Black-ancestry GWAS data + joining with T1D &amp; allergy subsets </a:t>
            </a:r>
            <a:r>
              <a:rPr lang="en-US" sz="1500" b="1" dirty="0">
                <a:solidFill>
                  <a:srgbClr val="E8A838"/>
                </a:solidFill>
                <a:latin typeface="Calibri" pitchFamily="34" charset="0"/>
                <a:ea typeface="Calibri" pitchFamily="34" charset="-122"/>
                <a:cs typeface="Calibri" pitchFamily="34" charset="-120"/>
              </a:rPr>
              <a:t>→  0 shared SNPs</a:t>
            </a:r>
            <a:endParaRPr lang="en-US" sz="1500" dirty="0"/>
          </a:p>
        </p:txBody>
      </p:sp>
      <p:sp>
        <p:nvSpPr>
          <p:cNvPr id="6" name="Shape 4"/>
          <p:cNvSpPr/>
          <p:nvPr/>
        </p:nvSpPr>
        <p:spPr>
          <a:xfrm>
            <a:off x="365760" y="2103120"/>
            <a:ext cx="2606040" cy="256032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1188720" y="2103120"/>
            <a:ext cx="960120" cy="960120"/>
          </a:xfrm>
          <a:prstGeom prst="ellipse">
            <a:avLst/>
          </a:prstGeom>
          <a:solidFill>
            <a:srgbClr val="4DA6D9"/>
          </a:solidFill>
          <a:ln w="12700">
            <a:solidFill>
              <a:srgbClr val="4DA6D9"/>
            </a:solidFill>
            <a:prstDash val="solid"/>
          </a:ln>
        </p:spPr>
        <p:txBody>
          <a:bodyPr/>
          <a:lstStyle/>
          <a:p>
            <a:endParaRPr lang="en-US"/>
          </a:p>
        </p:txBody>
      </p:sp>
      <p:sp>
        <p:nvSpPr>
          <p:cNvPr id="8" name="Text 6"/>
          <p:cNvSpPr/>
          <p:nvPr/>
        </p:nvSpPr>
        <p:spPr>
          <a:xfrm>
            <a:off x="1188720" y="2103120"/>
            <a:ext cx="960120" cy="9601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9" name="Text 7"/>
          <p:cNvSpPr/>
          <p:nvPr/>
        </p:nvSpPr>
        <p:spPr>
          <a:xfrm>
            <a:off x="365760" y="3154680"/>
            <a:ext cx="2606040" cy="36576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Scientific?</a:t>
            </a:r>
            <a:endParaRPr lang="en-US" sz="1300" dirty="0"/>
          </a:p>
        </p:txBody>
      </p:sp>
      <p:sp>
        <p:nvSpPr>
          <p:cNvPr id="10" name="Text 8"/>
          <p:cNvSpPr/>
          <p:nvPr/>
        </p:nvSpPr>
        <p:spPr>
          <a:xfrm>
            <a:off x="457200" y="3547872"/>
            <a:ext cx="2423160" cy="1005840"/>
          </a:xfrm>
          <a:prstGeom prst="rect">
            <a:avLst/>
          </a:prstGeom>
          <a:noFill/>
          <a:ln/>
        </p:spPr>
        <p:txBody>
          <a:bodyPr wrap="square" lIns="0" tIns="0" rIns="0" bIns="0" rtlCol="0" anchor="ctr"/>
          <a:lstStyle/>
          <a:p>
            <a:pPr marL="0" indent="0" algn="ctr">
              <a:buNone/>
            </a:pPr>
            <a:r>
              <a:rPr lang="en-US" sz="1050" dirty="0">
                <a:solidFill>
                  <a:srgbClr val="5A7A96"/>
                </a:solidFill>
                <a:latin typeface="Calibri" pitchFamily="34" charset="0"/>
                <a:ea typeface="Calibri" pitchFamily="34" charset="-122"/>
                <a:cs typeface="Calibri" pitchFamily="34" charset="-120"/>
              </a:rPr>
              <a:t>Is there truly no genetic overlap between these conditions in Black populations?</a:t>
            </a:r>
            <a:endParaRPr lang="en-US" sz="1050" dirty="0"/>
          </a:p>
        </p:txBody>
      </p:sp>
      <p:sp>
        <p:nvSpPr>
          <p:cNvPr id="11" name="Shape 9"/>
          <p:cNvSpPr/>
          <p:nvPr/>
        </p:nvSpPr>
        <p:spPr>
          <a:xfrm>
            <a:off x="3200400" y="2103120"/>
            <a:ext cx="2606040" cy="256032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4023360" y="2103120"/>
            <a:ext cx="960120" cy="960120"/>
          </a:xfrm>
          <a:prstGeom prst="ellipse">
            <a:avLst/>
          </a:prstGeom>
          <a:solidFill>
            <a:srgbClr val="4DA6D9"/>
          </a:solidFill>
          <a:ln w="12700">
            <a:solidFill>
              <a:srgbClr val="4DA6D9"/>
            </a:solidFill>
            <a:prstDash val="solid"/>
          </a:ln>
        </p:spPr>
        <p:txBody>
          <a:bodyPr/>
          <a:lstStyle/>
          <a:p>
            <a:endParaRPr lang="en-US"/>
          </a:p>
        </p:txBody>
      </p:sp>
      <p:sp>
        <p:nvSpPr>
          <p:cNvPr id="13" name="Text 11"/>
          <p:cNvSpPr/>
          <p:nvPr/>
        </p:nvSpPr>
        <p:spPr>
          <a:xfrm>
            <a:off x="4023360" y="2103120"/>
            <a:ext cx="960120" cy="9601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4" name="Text 12"/>
          <p:cNvSpPr/>
          <p:nvPr/>
        </p:nvSpPr>
        <p:spPr>
          <a:xfrm>
            <a:off x="3200400" y="3154680"/>
            <a:ext cx="2606040" cy="36576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Filters too strict?</a:t>
            </a:r>
            <a:endParaRPr lang="en-US" sz="1300" dirty="0"/>
          </a:p>
        </p:txBody>
      </p:sp>
      <p:sp>
        <p:nvSpPr>
          <p:cNvPr id="15" name="Text 13"/>
          <p:cNvSpPr/>
          <p:nvPr/>
        </p:nvSpPr>
        <p:spPr>
          <a:xfrm>
            <a:off x="3291840" y="3547872"/>
            <a:ext cx="2423160" cy="1005840"/>
          </a:xfrm>
          <a:prstGeom prst="rect">
            <a:avLst/>
          </a:prstGeom>
          <a:noFill/>
          <a:ln/>
        </p:spPr>
        <p:txBody>
          <a:bodyPr wrap="square" lIns="0" tIns="0" rIns="0" bIns="0" rtlCol="0" anchor="ctr"/>
          <a:lstStyle/>
          <a:p>
            <a:pPr marL="0" indent="0" algn="ctr">
              <a:buNone/>
            </a:pPr>
            <a:r>
              <a:rPr lang="en-US" sz="1050" dirty="0">
                <a:solidFill>
                  <a:srgbClr val="5A7A96"/>
                </a:solidFill>
                <a:latin typeface="Calibri" pitchFamily="34" charset="0"/>
                <a:ea typeface="Calibri" pitchFamily="34" charset="-122"/>
                <a:cs typeface="Calibri" pitchFamily="34" charset="-120"/>
              </a:rPr>
              <a:t>Did my rigid string matching on disease terms miss semantically similar phenotypes?</a:t>
            </a:r>
            <a:endParaRPr lang="en-US" sz="1050" dirty="0"/>
          </a:p>
        </p:txBody>
      </p:sp>
      <p:sp>
        <p:nvSpPr>
          <p:cNvPr id="16" name="Shape 14"/>
          <p:cNvSpPr/>
          <p:nvPr/>
        </p:nvSpPr>
        <p:spPr>
          <a:xfrm>
            <a:off x="6035040" y="2103120"/>
            <a:ext cx="2606040" cy="256032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6858000" y="2103120"/>
            <a:ext cx="960120" cy="960120"/>
          </a:xfrm>
          <a:prstGeom prst="ellipse">
            <a:avLst/>
          </a:prstGeom>
          <a:solidFill>
            <a:srgbClr val="4DA6D9"/>
          </a:solidFill>
          <a:ln w="12700">
            <a:solidFill>
              <a:srgbClr val="4DA6D9"/>
            </a:solidFill>
            <a:prstDash val="solid"/>
          </a:ln>
        </p:spPr>
        <p:txBody>
          <a:bodyPr/>
          <a:lstStyle/>
          <a:p>
            <a:endParaRPr lang="en-US"/>
          </a:p>
        </p:txBody>
      </p:sp>
      <p:sp>
        <p:nvSpPr>
          <p:cNvPr id="18" name="Text 16"/>
          <p:cNvSpPr/>
          <p:nvPr/>
        </p:nvSpPr>
        <p:spPr>
          <a:xfrm>
            <a:off x="6858000" y="2103120"/>
            <a:ext cx="960120" cy="9601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9" name="Text 17"/>
          <p:cNvSpPr/>
          <p:nvPr/>
        </p:nvSpPr>
        <p:spPr>
          <a:xfrm>
            <a:off x="6035040" y="3154680"/>
            <a:ext cx="2606040" cy="36576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Representation gap?</a:t>
            </a:r>
            <a:endParaRPr lang="en-US" sz="1300" dirty="0"/>
          </a:p>
        </p:txBody>
      </p:sp>
      <p:sp>
        <p:nvSpPr>
          <p:cNvPr id="20" name="Text 18"/>
          <p:cNvSpPr/>
          <p:nvPr/>
        </p:nvSpPr>
        <p:spPr>
          <a:xfrm>
            <a:off x="6126480" y="3547872"/>
            <a:ext cx="2423160" cy="1005840"/>
          </a:xfrm>
          <a:prstGeom prst="rect">
            <a:avLst/>
          </a:prstGeom>
          <a:noFill/>
          <a:ln/>
        </p:spPr>
        <p:txBody>
          <a:bodyPr wrap="square" lIns="0" tIns="0" rIns="0" bIns="0" rtlCol="0" anchor="ctr"/>
          <a:lstStyle/>
          <a:p>
            <a:pPr marL="0" indent="0" algn="ctr">
              <a:buNone/>
            </a:pPr>
            <a:r>
              <a:rPr lang="en-US" sz="1050" dirty="0">
                <a:solidFill>
                  <a:srgbClr val="5A7A96"/>
                </a:solidFill>
                <a:latin typeface="Calibri" pitchFamily="34" charset="0"/>
                <a:ea typeface="Calibri" pitchFamily="34" charset="-122"/>
                <a:cs typeface="Calibri" pitchFamily="34" charset="-120"/>
              </a:rPr>
              <a:t>Have these shared loci simply never been studied in Black populations at scale?</a:t>
            </a:r>
            <a:endParaRPr lang="en-US" sz="1050" dirty="0"/>
          </a:p>
        </p:txBody>
      </p:sp>
      <p:sp>
        <p:nvSpPr>
          <p:cNvPr id="21" name="Text 19"/>
          <p:cNvSpPr/>
          <p:nvPr/>
        </p:nvSpPr>
        <p:spPr>
          <a:xfrm>
            <a:off x="365760" y="4754880"/>
            <a:ext cx="8412480" cy="274320"/>
          </a:xfrm>
          <a:prstGeom prst="rect">
            <a:avLst/>
          </a:prstGeom>
          <a:noFill/>
          <a:ln/>
        </p:spPr>
        <p:txBody>
          <a:bodyPr wrap="square" lIns="0" tIns="0" rIns="0" bIns="0" rtlCol="0" anchor="ctr"/>
          <a:lstStyle/>
          <a:p>
            <a:pPr marL="0" indent="0" algn="ctr">
              <a:buNone/>
            </a:pPr>
            <a:r>
              <a:rPr lang="en-US" sz="1100" i="1" dirty="0">
                <a:solidFill>
                  <a:srgbClr val="4DA6D9"/>
                </a:solidFill>
                <a:latin typeface="Calibri" pitchFamily="34" charset="0"/>
                <a:ea typeface="Calibri" pitchFamily="34" charset="-122"/>
                <a:cs typeface="Calibri" pitchFamily="34" charset="-120"/>
              </a:rPr>
              <a:t>The answer turned out to be all three — and LLMs helped untangle them.</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137160"/>
            <a:ext cx="82296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Calibri" pitchFamily="34" charset="0"/>
                <a:ea typeface="Calibri" pitchFamily="34" charset="-122"/>
                <a:cs typeface="Calibri" pitchFamily="34" charset="-120"/>
              </a:rPr>
              <a:t>HOW LLMs GOT ME UNSTUCK</a:t>
            </a:r>
            <a:endParaRPr lang="en-US" sz="2600" dirty="0"/>
          </a:p>
        </p:txBody>
      </p:sp>
      <p:sp>
        <p:nvSpPr>
          <p:cNvPr id="4" name="Text 2"/>
          <p:cNvSpPr/>
          <p:nvPr/>
        </p:nvSpPr>
        <p:spPr>
          <a:xfrm>
            <a:off x="365760" y="960120"/>
            <a:ext cx="8412480" cy="274320"/>
          </a:xfrm>
          <a:prstGeom prst="rect">
            <a:avLst/>
          </a:prstGeom>
          <a:noFill/>
          <a:ln/>
        </p:spPr>
        <p:txBody>
          <a:bodyPr wrap="square" lIns="0" tIns="0" rIns="0" bIns="0" rtlCol="0" anchor="ctr"/>
          <a:lstStyle/>
          <a:p>
            <a:pPr marL="0" indent="0">
              <a:buNone/>
            </a:pPr>
            <a:r>
              <a:rPr lang="en-US" sz="1100" i="1" dirty="0">
                <a:solidFill>
                  <a:srgbClr val="5A7A96"/>
                </a:solidFill>
                <a:latin typeface="Calibri" pitchFamily="34" charset="0"/>
                <a:ea typeface="Calibri" pitchFamily="34" charset="-122"/>
                <a:cs typeface="Calibri" pitchFamily="34" charset="-120"/>
              </a:rPr>
              <a:t>Gemini 2.5 Flash integrated directly into the R environment via the GenAI package</a:t>
            </a:r>
            <a:endParaRPr lang="en-US" sz="1100" dirty="0"/>
          </a:p>
        </p:txBody>
      </p:sp>
      <p:sp>
        <p:nvSpPr>
          <p:cNvPr id="5" name="Shape 3"/>
          <p:cNvSpPr/>
          <p:nvPr/>
        </p:nvSpPr>
        <p:spPr>
          <a:xfrm>
            <a:off x="365760" y="1371600"/>
            <a:ext cx="8412480" cy="105156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365760" y="1371600"/>
            <a:ext cx="640080" cy="1051560"/>
          </a:xfrm>
          <a:prstGeom prst="rect">
            <a:avLst/>
          </a:prstGeom>
          <a:solidFill>
            <a:srgbClr val="1B2A4A"/>
          </a:solidFill>
          <a:ln w="12700">
            <a:solidFill>
              <a:srgbClr val="1B2A4A"/>
            </a:solidFill>
            <a:prstDash val="solid"/>
          </a:ln>
        </p:spPr>
        <p:txBody>
          <a:bodyPr/>
          <a:lstStyle/>
          <a:p>
            <a:endParaRPr lang="en-US"/>
          </a:p>
        </p:txBody>
      </p:sp>
      <p:sp>
        <p:nvSpPr>
          <p:cNvPr id="7" name="Text 5"/>
          <p:cNvSpPr/>
          <p:nvPr/>
        </p:nvSpPr>
        <p:spPr>
          <a:xfrm>
            <a:off x="365760" y="1371600"/>
            <a:ext cx="640080" cy="10515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8" name="Text 6"/>
          <p:cNvSpPr/>
          <p:nvPr/>
        </p:nvSpPr>
        <p:spPr>
          <a:xfrm>
            <a:off x="1143000" y="1463040"/>
            <a:ext cx="4114800" cy="32004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Feature Type Inference</a:t>
            </a:r>
            <a:endParaRPr lang="en-US" sz="1400" dirty="0"/>
          </a:p>
        </p:txBody>
      </p:sp>
      <p:sp>
        <p:nvSpPr>
          <p:cNvPr id="9" name="Text 7"/>
          <p:cNvSpPr/>
          <p:nvPr/>
        </p:nvSpPr>
        <p:spPr>
          <a:xfrm>
            <a:off x="1143000" y="1773936"/>
            <a:ext cx="3200400" cy="228600"/>
          </a:xfrm>
          <a:prstGeom prst="rect">
            <a:avLst/>
          </a:prstGeom>
          <a:noFill/>
          <a:ln/>
        </p:spPr>
        <p:txBody>
          <a:bodyPr wrap="square" lIns="0" tIns="0" rIns="0" bIns="0" rtlCol="0" anchor="ctr"/>
          <a:lstStyle/>
          <a:p>
            <a:pPr marL="0" indent="0">
              <a:buNone/>
            </a:pPr>
            <a:r>
              <a:rPr lang="en-US" sz="950" i="1" dirty="0">
                <a:solidFill>
                  <a:srgbClr val="1B2A4A"/>
                </a:solidFill>
                <a:latin typeface="Calibri" pitchFamily="34" charset="0"/>
                <a:ea typeface="Calibri" pitchFamily="34" charset="-122"/>
                <a:cs typeface="Calibri" pitchFamily="34" charset="-120"/>
              </a:rPr>
              <a:t>AutoDW (Liu et al., 2024)</a:t>
            </a:r>
            <a:endParaRPr lang="en-US" sz="950" dirty="0"/>
          </a:p>
        </p:txBody>
      </p:sp>
      <p:sp>
        <p:nvSpPr>
          <p:cNvPr id="10" name="Text 8"/>
          <p:cNvSpPr/>
          <p:nvPr/>
        </p:nvSpPr>
        <p:spPr>
          <a:xfrm>
            <a:off x="1143000" y="1984248"/>
            <a:ext cx="7498080" cy="365760"/>
          </a:xfrm>
          <a:prstGeom prst="rect">
            <a:avLst/>
          </a:prstGeom>
          <a:noFill/>
          <a:ln/>
        </p:spPr>
        <p:txBody>
          <a:bodyPr wrap="square" lIns="0" tIns="0" rIns="0" bIns="0" rtlCol="0" anchor="ctr"/>
          <a:lstStyle/>
          <a:p>
            <a:pPr marL="0" indent="0">
              <a:buNone/>
            </a:pPr>
            <a:r>
              <a:rPr lang="en-US" sz="1050" dirty="0">
                <a:solidFill>
                  <a:srgbClr val="5A7A96"/>
                </a:solidFill>
                <a:latin typeface="Calibri" pitchFamily="34" charset="0"/>
                <a:ea typeface="Calibri" pitchFamily="34" charset="-122"/>
                <a:cs typeface="Calibri" pitchFamily="34" charset="-120"/>
              </a:rPr>
              <a:t>Sampled 3 values per column from the 43-column variant_summary and asked Gemini to classify each as Numerical, Categorical, Datetime, etc. and flag columns influential for T1D or allergy analysis.</a:t>
            </a:r>
            <a:endParaRPr lang="en-US" sz="1050" dirty="0"/>
          </a:p>
        </p:txBody>
      </p:sp>
      <p:sp>
        <p:nvSpPr>
          <p:cNvPr id="11" name="Shape 9"/>
          <p:cNvSpPr/>
          <p:nvPr/>
        </p:nvSpPr>
        <p:spPr>
          <a:xfrm>
            <a:off x="365760" y="2560320"/>
            <a:ext cx="8412480" cy="105156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365760" y="2560320"/>
            <a:ext cx="640080" cy="1051560"/>
          </a:xfrm>
          <a:prstGeom prst="rect">
            <a:avLst/>
          </a:prstGeom>
          <a:solidFill>
            <a:srgbClr val="2E5B8A"/>
          </a:solidFill>
          <a:ln w="12700">
            <a:solidFill>
              <a:srgbClr val="2E5B8A"/>
            </a:solidFill>
            <a:prstDash val="solid"/>
          </a:ln>
        </p:spPr>
        <p:txBody>
          <a:bodyPr/>
          <a:lstStyle/>
          <a:p>
            <a:endParaRPr lang="en-US"/>
          </a:p>
        </p:txBody>
      </p:sp>
      <p:sp>
        <p:nvSpPr>
          <p:cNvPr id="13" name="Text 11"/>
          <p:cNvSpPr/>
          <p:nvPr/>
        </p:nvSpPr>
        <p:spPr>
          <a:xfrm>
            <a:off x="365760" y="2560320"/>
            <a:ext cx="640080" cy="10515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4" name="Text 12"/>
          <p:cNvSpPr/>
          <p:nvPr/>
        </p:nvSpPr>
        <p:spPr>
          <a:xfrm>
            <a:off x="1143000" y="2651760"/>
            <a:ext cx="4114800" cy="32004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Demographic Filtering</a:t>
            </a:r>
            <a:endParaRPr lang="en-US" sz="1400" dirty="0"/>
          </a:p>
        </p:txBody>
      </p:sp>
      <p:sp>
        <p:nvSpPr>
          <p:cNvPr id="15" name="Text 13"/>
          <p:cNvSpPr/>
          <p:nvPr/>
        </p:nvSpPr>
        <p:spPr>
          <a:xfrm>
            <a:off x="1143000" y="2962656"/>
            <a:ext cx="3200400" cy="228600"/>
          </a:xfrm>
          <a:prstGeom prst="rect">
            <a:avLst/>
          </a:prstGeom>
          <a:noFill/>
          <a:ln/>
        </p:spPr>
        <p:txBody>
          <a:bodyPr wrap="square" lIns="0" tIns="0" rIns="0" bIns="0" rtlCol="0" anchor="ctr"/>
          <a:lstStyle/>
          <a:p>
            <a:pPr marL="0" indent="0">
              <a:buNone/>
            </a:pPr>
            <a:r>
              <a:rPr lang="en-US" sz="950" i="1" dirty="0">
                <a:solidFill>
                  <a:srgbClr val="2E5B8A"/>
                </a:solidFill>
                <a:latin typeface="Calibri" pitchFamily="34" charset="0"/>
                <a:ea typeface="Calibri" pitchFamily="34" charset="-122"/>
                <a:cs typeface="Calibri" pitchFamily="34" charset="-120"/>
              </a:rPr>
              <a:t>LLM-Assisted Wrangling</a:t>
            </a:r>
            <a:endParaRPr lang="en-US" sz="950" dirty="0"/>
          </a:p>
        </p:txBody>
      </p:sp>
      <p:sp>
        <p:nvSpPr>
          <p:cNvPr id="16" name="Text 14"/>
          <p:cNvSpPr/>
          <p:nvPr/>
        </p:nvSpPr>
        <p:spPr>
          <a:xfrm>
            <a:off x="1143000" y="3172968"/>
            <a:ext cx="7498080" cy="365760"/>
          </a:xfrm>
          <a:prstGeom prst="rect">
            <a:avLst/>
          </a:prstGeom>
          <a:noFill/>
          <a:ln/>
        </p:spPr>
        <p:txBody>
          <a:bodyPr wrap="square" lIns="0" tIns="0" rIns="0" bIns="0" rtlCol="0" anchor="ctr"/>
          <a:lstStyle/>
          <a:p>
            <a:pPr marL="0" indent="0">
              <a:buNone/>
            </a:pPr>
            <a:r>
              <a:rPr lang="en-US" sz="1050" dirty="0">
                <a:solidFill>
                  <a:srgbClr val="5A7A96"/>
                </a:solidFill>
                <a:latin typeface="Calibri" pitchFamily="34" charset="0"/>
                <a:ea typeface="Calibri" pitchFamily="34" charset="-122"/>
                <a:cs typeface="Calibri" pitchFamily="34" charset="-120"/>
              </a:rPr>
              <a:t>Used Gemini to generate and refine the 70% Black ancestry threshold filter — replacing a brittle 12-condition OR filter with a precise percentage-based approach across study populations.</a:t>
            </a:r>
            <a:endParaRPr lang="en-US" sz="1050" dirty="0"/>
          </a:p>
        </p:txBody>
      </p:sp>
      <p:sp>
        <p:nvSpPr>
          <p:cNvPr id="17" name="Shape 15"/>
          <p:cNvSpPr/>
          <p:nvPr/>
        </p:nvSpPr>
        <p:spPr>
          <a:xfrm>
            <a:off x="365760" y="3749040"/>
            <a:ext cx="8412480" cy="105156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365760" y="3749040"/>
            <a:ext cx="640080" cy="1051560"/>
          </a:xfrm>
          <a:prstGeom prst="rect">
            <a:avLst/>
          </a:prstGeom>
          <a:solidFill>
            <a:srgbClr val="4DA6D9"/>
          </a:solidFill>
          <a:ln w="12700">
            <a:solidFill>
              <a:srgbClr val="4DA6D9"/>
            </a:solidFill>
            <a:prstDash val="solid"/>
          </a:ln>
        </p:spPr>
        <p:txBody>
          <a:bodyPr/>
          <a:lstStyle/>
          <a:p>
            <a:endParaRPr lang="en-US"/>
          </a:p>
        </p:txBody>
      </p:sp>
      <p:sp>
        <p:nvSpPr>
          <p:cNvPr id="19" name="Text 17"/>
          <p:cNvSpPr/>
          <p:nvPr/>
        </p:nvSpPr>
        <p:spPr>
          <a:xfrm>
            <a:off x="365760" y="3749040"/>
            <a:ext cx="640080" cy="10515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20" name="Text 18"/>
          <p:cNvSpPr/>
          <p:nvPr/>
        </p:nvSpPr>
        <p:spPr>
          <a:xfrm>
            <a:off x="1143000" y="3840480"/>
            <a:ext cx="4114800" cy="32004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Semantic Phenotype Matching</a:t>
            </a:r>
            <a:endParaRPr lang="en-US" sz="1400" dirty="0"/>
          </a:p>
        </p:txBody>
      </p:sp>
      <p:sp>
        <p:nvSpPr>
          <p:cNvPr id="21" name="Text 19"/>
          <p:cNvSpPr/>
          <p:nvPr/>
        </p:nvSpPr>
        <p:spPr>
          <a:xfrm>
            <a:off x="1143000" y="4151376"/>
            <a:ext cx="3200400" cy="228600"/>
          </a:xfrm>
          <a:prstGeom prst="rect">
            <a:avLst/>
          </a:prstGeom>
          <a:noFill/>
          <a:ln/>
        </p:spPr>
        <p:txBody>
          <a:bodyPr wrap="square" lIns="0" tIns="0" rIns="0" bIns="0" rtlCol="0" anchor="ctr"/>
          <a:lstStyle/>
          <a:p>
            <a:pPr marL="0" indent="0">
              <a:buNone/>
            </a:pPr>
            <a:r>
              <a:rPr lang="en-US" sz="950" i="1" dirty="0">
                <a:solidFill>
                  <a:srgbClr val="4DA6D9"/>
                </a:solidFill>
                <a:latin typeface="Calibri" pitchFamily="34" charset="0"/>
                <a:ea typeface="Calibri" pitchFamily="34" charset="-122"/>
                <a:cs typeface="Calibri" pitchFamily="34" charset="-120"/>
              </a:rPr>
              <a:t>Zhou et al., 2025</a:t>
            </a:r>
            <a:endParaRPr lang="en-US" sz="950" dirty="0"/>
          </a:p>
        </p:txBody>
      </p:sp>
      <p:sp>
        <p:nvSpPr>
          <p:cNvPr id="22" name="Text 20"/>
          <p:cNvSpPr/>
          <p:nvPr/>
        </p:nvSpPr>
        <p:spPr>
          <a:xfrm>
            <a:off x="1143000" y="4361688"/>
            <a:ext cx="7498080" cy="365760"/>
          </a:xfrm>
          <a:prstGeom prst="rect">
            <a:avLst/>
          </a:prstGeom>
          <a:noFill/>
          <a:ln/>
        </p:spPr>
        <p:txBody>
          <a:bodyPr wrap="square" lIns="0" tIns="0" rIns="0" bIns="0" rtlCol="0" anchor="ctr"/>
          <a:lstStyle/>
          <a:p>
            <a:pPr marL="0" indent="0">
              <a:buNone/>
            </a:pPr>
            <a:r>
              <a:rPr lang="en-US" sz="1050" dirty="0">
                <a:solidFill>
                  <a:srgbClr val="5A7A96"/>
                </a:solidFill>
                <a:latin typeface="Calibri" pitchFamily="34" charset="0"/>
                <a:ea typeface="Calibri" pitchFamily="34" charset="-122"/>
                <a:cs typeface="Calibri" pitchFamily="34" charset="-120"/>
              </a:rPr>
              <a:t>Asked Gemini to remove redundant columns post-join and recommend join strategies when RSID matching failed — bridging ClinVar and GWAS datasets that rigid string filters could not connect.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5B8A"/>
          </a:solidFill>
          <a:ln w="12700">
            <a:solidFill>
              <a:srgbClr val="2E5B8A"/>
            </a:solidFill>
            <a:prstDash val="solid"/>
          </a:ln>
        </p:spPr>
        <p:txBody>
          <a:bodyPr/>
          <a:lstStyle/>
          <a:p>
            <a:endParaRPr lang="en-US"/>
          </a:p>
        </p:txBody>
      </p:sp>
      <p:sp>
        <p:nvSpPr>
          <p:cNvPr id="3" name="Text 1"/>
          <p:cNvSpPr/>
          <p:nvPr/>
        </p:nvSpPr>
        <p:spPr>
          <a:xfrm>
            <a:off x="365760" y="109728"/>
            <a:ext cx="8229600" cy="548640"/>
          </a:xfrm>
          <a:prstGeom prst="rect">
            <a:avLst/>
          </a:prstGeom>
          <a:noFill/>
          <a:ln/>
        </p:spPr>
        <p:txBody>
          <a:bodyPr wrap="square" lIns="0" tIns="0" rIns="0" bIns="0" rtlCol="0" anchor="ctr"/>
          <a:lstStyle/>
          <a:p>
            <a:pPr marL="0" indent="0">
              <a:buNone/>
            </a:pPr>
            <a:r>
              <a:rPr lang="en-US" sz="2200" b="1" kern="0" spc="200" dirty="0">
                <a:solidFill>
                  <a:srgbClr val="FFFFFF"/>
                </a:solidFill>
                <a:latin typeface="Calibri" pitchFamily="34" charset="0"/>
                <a:ea typeface="Calibri" pitchFamily="34" charset="-122"/>
                <a:cs typeface="Calibri" pitchFamily="34" charset="-120"/>
              </a:rPr>
              <a:t>LLM IN ACTION — SELECTED CODE</a:t>
            </a:r>
            <a:endParaRPr lang="en-US" sz="2200" dirty="0"/>
          </a:p>
        </p:txBody>
      </p:sp>
      <p:sp>
        <p:nvSpPr>
          <p:cNvPr id="4" name="Shape 2"/>
          <p:cNvSpPr/>
          <p:nvPr/>
        </p:nvSpPr>
        <p:spPr>
          <a:xfrm>
            <a:off x="274320" y="914400"/>
            <a:ext cx="4114800" cy="3886200"/>
          </a:xfrm>
          <a:prstGeom prst="rect">
            <a:avLst/>
          </a:prstGeom>
          <a:solidFill>
            <a:srgbClr val="1A2535"/>
          </a:solidFill>
          <a:ln w="12700">
            <a:solidFill>
              <a:srgbClr val="4DA6D9"/>
            </a:solidFill>
            <a:prstDash val="solid"/>
          </a:ln>
        </p:spPr>
        <p:txBody>
          <a:bodyPr/>
          <a:lstStyle/>
          <a:p>
            <a:endParaRPr lang="en-US"/>
          </a:p>
        </p:txBody>
      </p:sp>
      <p:sp>
        <p:nvSpPr>
          <p:cNvPr id="5" name="Text 3"/>
          <p:cNvSpPr/>
          <p:nvPr/>
        </p:nvSpPr>
        <p:spPr>
          <a:xfrm>
            <a:off x="320040" y="960120"/>
            <a:ext cx="4023360" cy="320040"/>
          </a:xfrm>
          <a:prstGeom prst="rect">
            <a:avLst/>
          </a:prstGeom>
          <a:noFill/>
          <a:ln/>
        </p:spPr>
        <p:txBody>
          <a:bodyPr wrap="square" lIns="0" tIns="0" rIns="0" bIns="0" rtlCol="0" anchor="ctr"/>
          <a:lstStyle/>
          <a:p>
            <a:pPr marL="0" indent="0">
              <a:buNone/>
            </a:pPr>
            <a:r>
              <a:rPr lang="en-US" sz="1100" b="1" dirty="0">
                <a:solidFill>
                  <a:srgbClr val="4DA6D9"/>
                </a:solidFill>
                <a:latin typeface="Calibri" pitchFamily="34" charset="0"/>
                <a:ea typeface="Calibri" pitchFamily="34" charset="-122"/>
                <a:cs typeface="Calibri" pitchFamily="34" charset="-120"/>
              </a:rPr>
              <a:t>Feature Type Inference</a:t>
            </a:r>
            <a:endParaRPr lang="en-US" sz="1100" dirty="0"/>
          </a:p>
        </p:txBody>
      </p:sp>
      <p:sp>
        <p:nvSpPr>
          <p:cNvPr id="6" name="Text 4"/>
          <p:cNvSpPr/>
          <p:nvPr/>
        </p:nvSpPr>
        <p:spPr>
          <a:xfrm>
            <a:off x="347472" y="1325880"/>
            <a:ext cx="3977640" cy="3383280"/>
          </a:xfrm>
          <a:prstGeom prst="rect">
            <a:avLst/>
          </a:prstGeom>
          <a:noFill/>
          <a:ln/>
        </p:spPr>
        <p:txBody>
          <a:bodyPr wrap="square" lIns="38100" tIns="38100" rIns="38100" bIns="38100" rtlCol="0" anchor="t"/>
          <a:lstStyle/>
          <a:p>
            <a:pPr marL="0" indent="0">
              <a:buNone/>
            </a:pPr>
            <a:r>
              <a:rPr lang="en-US" sz="820" dirty="0">
                <a:solidFill>
                  <a:srgbClr val="A8D8EA"/>
                </a:solidFill>
                <a:latin typeface="Courier New" pitchFamily="34" charset="0"/>
                <a:ea typeface="Courier New" pitchFamily="34" charset="-122"/>
                <a:cs typeface="Courier New" pitchFamily="34" charset="-120"/>
              </a:rPr>
              <a:t>infer_variant_column_types &lt;- </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function(Variant_data, genai_obj) {</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col_samples &lt;- sapply(</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names(Variant_data), function(col) {</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vals &lt;- na.omit(Variant_data[[col]])[1:3]</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paste0(col,": [",</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paste(vals, collapse=", "),"]")</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a:t>
            </a:r>
            <a:endParaRPr lang="en-US" sz="820" dirty="0"/>
          </a:p>
          <a:p>
            <a:pPr marL="0" indent="0">
              <a:buNone/>
            </a:pP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prompt &lt;- paste0(</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"Classify each column as: Numerical,",</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 Categorical, Datetime...\n",</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"Flag 'influential' = TRUE if related",</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 to T1D or Allergy phenotypes.\n",</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"Return only raw JSON.\n\n",</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paste(col_samples, collapse="\n"))</a:t>
            </a:r>
            <a:endParaRPr lang="en-US" sz="820" dirty="0"/>
          </a:p>
          <a:p>
            <a:pPr marL="0" indent="0">
              <a:buNone/>
            </a:pP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result &lt;- txt(genai.object=genai_obj, </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prompt=prompt)</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fromJSON(gsub("```json|```","",result))</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a:t>
            </a:r>
            <a:endParaRPr lang="en-US" sz="820" dirty="0"/>
          </a:p>
        </p:txBody>
      </p:sp>
      <p:sp>
        <p:nvSpPr>
          <p:cNvPr id="7" name="Shape 5"/>
          <p:cNvSpPr/>
          <p:nvPr/>
        </p:nvSpPr>
        <p:spPr>
          <a:xfrm>
            <a:off x="4754880" y="914400"/>
            <a:ext cx="4114800" cy="3886200"/>
          </a:xfrm>
          <a:prstGeom prst="rect">
            <a:avLst/>
          </a:prstGeom>
          <a:solidFill>
            <a:srgbClr val="1A2535"/>
          </a:solidFill>
          <a:ln w="12700">
            <a:solidFill>
              <a:srgbClr val="E8A838"/>
            </a:solidFill>
            <a:prstDash val="solid"/>
          </a:ln>
        </p:spPr>
        <p:txBody>
          <a:bodyPr/>
          <a:lstStyle/>
          <a:p>
            <a:endParaRPr lang="en-US"/>
          </a:p>
        </p:txBody>
      </p:sp>
      <p:sp>
        <p:nvSpPr>
          <p:cNvPr id="8" name="Text 6"/>
          <p:cNvSpPr/>
          <p:nvPr/>
        </p:nvSpPr>
        <p:spPr>
          <a:xfrm>
            <a:off x="4800600" y="960120"/>
            <a:ext cx="4023360" cy="320040"/>
          </a:xfrm>
          <a:prstGeom prst="rect">
            <a:avLst/>
          </a:prstGeom>
          <a:noFill/>
          <a:ln/>
        </p:spPr>
        <p:txBody>
          <a:bodyPr wrap="square" lIns="0" tIns="0" rIns="0" bIns="0" rtlCol="0" anchor="ctr"/>
          <a:lstStyle/>
          <a:p>
            <a:pPr marL="0" indent="0">
              <a:buNone/>
            </a:pPr>
            <a:r>
              <a:rPr lang="en-US" sz="1100" b="1" dirty="0">
                <a:solidFill>
                  <a:srgbClr val="E8A838"/>
                </a:solidFill>
                <a:latin typeface="Calibri" pitchFamily="34" charset="0"/>
                <a:ea typeface="Calibri" pitchFamily="34" charset="-122"/>
                <a:cs typeface="Calibri" pitchFamily="34" charset="-120"/>
              </a:rPr>
              <a:t>70% Black Ancestry Filter</a:t>
            </a:r>
            <a:endParaRPr lang="en-US" sz="1100" dirty="0"/>
          </a:p>
        </p:txBody>
      </p:sp>
      <p:sp>
        <p:nvSpPr>
          <p:cNvPr id="9" name="Text 7"/>
          <p:cNvSpPr/>
          <p:nvPr/>
        </p:nvSpPr>
        <p:spPr>
          <a:xfrm>
            <a:off x="4800600" y="1325880"/>
            <a:ext cx="3977640" cy="3383280"/>
          </a:xfrm>
          <a:prstGeom prst="rect">
            <a:avLst/>
          </a:prstGeom>
          <a:noFill/>
          <a:ln/>
        </p:spPr>
        <p:txBody>
          <a:bodyPr wrap="square" lIns="38100" tIns="38100" rIns="38100" bIns="38100" rtlCol="0" anchor="t"/>
          <a:lstStyle/>
          <a:p>
            <a:pPr marL="0" indent="0">
              <a:buNone/>
            </a:pPr>
            <a:r>
              <a:rPr lang="en-US" sz="820" dirty="0">
                <a:solidFill>
                  <a:srgbClr val="A8D8EA"/>
                </a:solidFill>
                <a:latin typeface="Courier New" pitchFamily="34" charset="0"/>
                <a:ea typeface="Courier New" pitchFamily="34" charset="-122"/>
                <a:cs typeface="Courier New" pitchFamily="34" charset="-120"/>
              </a:rPr>
              <a:t>gwas_ancestor_pct &lt;- gwas_ancestor %&gt;%</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mutate(group_n = as.numeric(</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str_replace_all(</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`NUMBER OF INDIVIDUALS`,",",""))) %&gt;%</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group_by(`STUDY ACCESSION`) %&gt;%</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mutate(total_n = sum(group_n, </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na.rm=TRUE)) %&gt;%</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ungroup() %&gt;%</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mutate(</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is_african = str_detect(</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`BROAD ANCESTRAL CATEGORY`,</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"African American|Sub-Saharan"),</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african_n = ifelse(</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is_african, group_n, 0)) %&gt;%</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group_by(`STUDY ACCESSION`) %&gt;%</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mutate(study_pct_african = </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sum(african_n, na.rm=TRUE) / </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max(total_n, na.rm=TRUE)) %&gt;%</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ungroup() %&gt;%</a:t>
            </a:r>
            <a:endParaRPr lang="en-US" sz="820" dirty="0"/>
          </a:p>
          <a:p>
            <a:pPr marL="0" indent="0">
              <a:buNone/>
            </a:pPr>
            <a:r>
              <a:rPr lang="en-US" sz="820" dirty="0">
                <a:solidFill>
                  <a:srgbClr val="A8D8EA"/>
                </a:solidFill>
                <a:latin typeface="Courier New" pitchFamily="34" charset="0"/>
                <a:ea typeface="Courier New" pitchFamily="34" charset="-122"/>
                <a:cs typeface="Courier New" pitchFamily="34" charset="-120"/>
              </a:rPr>
              <a:t>  filter(study_pct_african &gt;= 0.70)</a:t>
            </a:r>
            <a:endParaRPr lang="en-US" sz="8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137160"/>
            <a:ext cx="82296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Calibri" pitchFamily="34" charset="0"/>
                <a:ea typeface="Calibri" pitchFamily="34" charset="-122"/>
                <a:cs typeface="Calibri" pitchFamily="34" charset="-120"/>
              </a:rPr>
              <a:t>THE KEY FINDING</a:t>
            </a:r>
            <a:endParaRPr lang="en-US" sz="2600" dirty="0"/>
          </a:p>
        </p:txBody>
      </p:sp>
      <p:sp>
        <p:nvSpPr>
          <p:cNvPr id="4" name="Shape 2"/>
          <p:cNvSpPr/>
          <p:nvPr/>
        </p:nvSpPr>
        <p:spPr>
          <a:xfrm>
            <a:off x="1097280" y="1828800"/>
            <a:ext cx="1920240" cy="2194560"/>
          </a:xfrm>
          <a:prstGeom prst="rect">
            <a:avLst/>
          </a:prstGeom>
          <a:solidFill>
            <a:srgbClr val="4DA6D9"/>
          </a:solidFill>
          <a:ln w="12700">
            <a:solidFill>
              <a:srgbClr val="4DA6D9"/>
            </a:solidFill>
            <a:prstDash val="solid"/>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1097280" y="1444752"/>
            <a:ext cx="1920240" cy="365760"/>
          </a:xfrm>
          <a:prstGeom prst="rect">
            <a:avLst/>
          </a:prstGeom>
          <a:noFill/>
          <a:ln/>
        </p:spPr>
        <p:txBody>
          <a:bodyPr wrap="square" lIns="0" tIns="0" rIns="0" bIns="0" rtlCol="0" anchor="ctr"/>
          <a:lstStyle/>
          <a:p>
            <a:pPr marL="0" indent="0" algn="ctr">
              <a:buNone/>
            </a:pPr>
            <a:r>
              <a:rPr lang="en-US" sz="2600" b="1" dirty="0">
                <a:solidFill>
                  <a:srgbClr val="4DA6D9"/>
                </a:solidFill>
                <a:latin typeface="Calibri" pitchFamily="34" charset="0"/>
                <a:ea typeface="Calibri" pitchFamily="34" charset="-122"/>
                <a:cs typeface="Calibri" pitchFamily="34" charset="-120"/>
              </a:rPr>
              <a:t>30</a:t>
            </a:r>
            <a:endParaRPr lang="en-US" sz="2600" dirty="0"/>
          </a:p>
        </p:txBody>
      </p:sp>
      <p:sp>
        <p:nvSpPr>
          <p:cNvPr id="6" name="Text 4"/>
          <p:cNvSpPr/>
          <p:nvPr/>
        </p:nvSpPr>
        <p:spPr>
          <a:xfrm>
            <a:off x="960120" y="4114800"/>
            <a:ext cx="2194560" cy="640080"/>
          </a:xfrm>
          <a:prstGeom prst="rect">
            <a:avLst/>
          </a:prstGeom>
          <a:noFill/>
          <a:ln/>
        </p:spPr>
        <p:txBody>
          <a:bodyPr wrap="square" lIns="0" tIns="0" rIns="0" bIns="0" rtlCol="0" anchor="ctr"/>
          <a:lstStyle/>
          <a:p>
            <a:pPr marL="0" indent="0" algn="ctr">
              <a:buNone/>
            </a:pPr>
            <a:r>
              <a:rPr lang="en-US" sz="1000" dirty="0">
                <a:solidFill>
                  <a:srgbClr val="1B2A4A"/>
                </a:solidFill>
                <a:latin typeface="Calibri" pitchFamily="34" charset="0"/>
                <a:ea typeface="Calibri" pitchFamily="34" charset="-122"/>
                <a:cs typeface="Calibri" pitchFamily="34" charset="-120"/>
              </a:rPr>
              <a:t>Shared SNPs</a:t>
            </a:r>
            <a:endParaRPr lang="en-US" sz="1000" dirty="0"/>
          </a:p>
          <a:p>
            <a:pPr marL="0" indent="0" algn="ctr">
              <a:buNone/>
            </a:pPr>
            <a:r>
              <a:rPr lang="en-US" sz="1000" dirty="0">
                <a:solidFill>
                  <a:srgbClr val="1B2A4A"/>
                </a:solidFill>
                <a:latin typeface="Calibri" pitchFamily="34" charset="0"/>
                <a:ea typeface="Calibri" pitchFamily="34" charset="-122"/>
                <a:cs typeface="Calibri" pitchFamily="34" charset="-120"/>
              </a:rPr>
              <a:t>(Full GWAS)</a:t>
            </a:r>
            <a:endParaRPr lang="en-US" sz="1000" dirty="0"/>
          </a:p>
        </p:txBody>
      </p:sp>
      <p:sp>
        <p:nvSpPr>
          <p:cNvPr id="7" name="Shape 5"/>
          <p:cNvSpPr/>
          <p:nvPr/>
        </p:nvSpPr>
        <p:spPr>
          <a:xfrm>
            <a:off x="3657600" y="3959352"/>
            <a:ext cx="1920240" cy="64008"/>
          </a:xfrm>
          <a:prstGeom prst="rect">
            <a:avLst/>
          </a:prstGeom>
          <a:solidFill>
            <a:srgbClr val="C0392B"/>
          </a:solidFill>
          <a:ln w="12700">
            <a:solidFill>
              <a:srgbClr val="C0392B"/>
            </a:solidFill>
            <a:prstDash val="solid"/>
          </a:ln>
        </p:spPr>
        <p:txBody>
          <a:bodyPr/>
          <a:lstStyle/>
          <a:p>
            <a:endParaRPr lang="en-US"/>
          </a:p>
        </p:txBody>
      </p:sp>
      <p:sp>
        <p:nvSpPr>
          <p:cNvPr id="8" name="Text 6"/>
          <p:cNvSpPr/>
          <p:nvPr/>
        </p:nvSpPr>
        <p:spPr>
          <a:xfrm>
            <a:off x="3657600" y="3639312"/>
            <a:ext cx="1920240" cy="365760"/>
          </a:xfrm>
          <a:prstGeom prst="rect">
            <a:avLst/>
          </a:prstGeom>
          <a:noFill/>
          <a:ln/>
        </p:spPr>
        <p:txBody>
          <a:bodyPr wrap="square" lIns="0" tIns="0" rIns="0" bIns="0" rtlCol="0" anchor="ctr"/>
          <a:lstStyle/>
          <a:p>
            <a:pPr marL="0" indent="0" algn="ctr">
              <a:buNone/>
            </a:pPr>
            <a:r>
              <a:rPr lang="en-US" sz="2600" b="1" dirty="0">
                <a:solidFill>
                  <a:srgbClr val="C0392B"/>
                </a:solidFill>
                <a:latin typeface="Calibri" pitchFamily="34" charset="0"/>
                <a:ea typeface="Calibri" pitchFamily="34" charset="-122"/>
                <a:cs typeface="Calibri" pitchFamily="34" charset="-120"/>
              </a:rPr>
              <a:t>0</a:t>
            </a:r>
            <a:endParaRPr lang="en-US" sz="2600" dirty="0"/>
          </a:p>
        </p:txBody>
      </p:sp>
      <p:sp>
        <p:nvSpPr>
          <p:cNvPr id="9" name="Text 7"/>
          <p:cNvSpPr/>
          <p:nvPr/>
        </p:nvSpPr>
        <p:spPr>
          <a:xfrm>
            <a:off x="3520440" y="4114800"/>
            <a:ext cx="2194560" cy="640080"/>
          </a:xfrm>
          <a:prstGeom prst="rect">
            <a:avLst/>
          </a:prstGeom>
          <a:noFill/>
          <a:ln/>
        </p:spPr>
        <p:txBody>
          <a:bodyPr wrap="square" lIns="0" tIns="0" rIns="0" bIns="0" rtlCol="0" anchor="ctr"/>
          <a:lstStyle/>
          <a:p>
            <a:pPr marL="0" indent="0" algn="ctr">
              <a:buNone/>
            </a:pPr>
            <a:r>
              <a:rPr lang="en-US" sz="1000" dirty="0">
                <a:solidFill>
                  <a:srgbClr val="1B2A4A"/>
                </a:solidFill>
                <a:latin typeface="Calibri" pitchFamily="34" charset="0"/>
                <a:ea typeface="Calibri" pitchFamily="34" charset="-122"/>
                <a:cs typeface="Calibri" pitchFamily="34" charset="-120"/>
              </a:rPr>
              <a:t>Shared SNPs</a:t>
            </a:r>
            <a:endParaRPr lang="en-US" sz="1000" dirty="0"/>
          </a:p>
          <a:p>
            <a:pPr marL="0" indent="0" algn="ctr">
              <a:buNone/>
            </a:pPr>
            <a:r>
              <a:rPr lang="en-US" sz="1000" dirty="0">
                <a:solidFill>
                  <a:srgbClr val="1B2A4A"/>
                </a:solidFill>
                <a:latin typeface="Calibri" pitchFamily="34" charset="0"/>
                <a:ea typeface="Calibri" pitchFamily="34" charset="-122"/>
                <a:cs typeface="Calibri" pitchFamily="34" charset="-120"/>
              </a:rPr>
              <a:t>(Black Populations)</a:t>
            </a:r>
            <a:endParaRPr lang="en-US" sz="1000" dirty="0"/>
          </a:p>
        </p:txBody>
      </p:sp>
      <p:sp>
        <p:nvSpPr>
          <p:cNvPr id="10" name="Shape 8"/>
          <p:cNvSpPr/>
          <p:nvPr/>
        </p:nvSpPr>
        <p:spPr>
          <a:xfrm>
            <a:off x="6217920" y="3876324"/>
            <a:ext cx="1920240" cy="147036"/>
          </a:xfrm>
          <a:prstGeom prst="rect">
            <a:avLst/>
          </a:prstGeom>
          <a:solidFill>
            <a:srgbClr val="E8A838"/>
          </a:solidFill>
          <a:ln w="12700">
            <a:solidFill>
              <a:srgbClr val="E8A838"/>
            </a:solidFill>
            <a:prstDash val="solid"/>
          </a:ln>
          <a:effectLst>
            <a:outerShdw blurRad="101600" dist="38100" dir="8100000" algn="bl" rotWithShape="0">
              <a:srgbClr val="000000">
                <a:alpha val="12000"/>
              </a:srgbClr>
            </a:outerShdw>
          </a:effectLst>
        </p:spPr>
        <p:txBody>
          <a:bodyPr/>
          <a:lstStyle/>
          <a:p>
            <a:endParaRPr lang="en-US"/>
          </a:p>
        </p:txBody>
      </p:sp>
      <p:sp>
        <p:nvSpPr>
          <p:cNvPr id="11" name="Text 9"/>
          <p:cNvSpPr/>
          <p:nvPr/>
        </p:nvSpPr>
        <p:spPr>
          <a:xfrm>
            <a:off x="6217920" y="3492276"/>
            <a:ext cx="1920240" cy="365760"/>
          </a:xfrm>
          <a:prstGeom prst="rect">
            <a:avLst/>
          </a:prstGeom>
          <a:noFill/>
          <a:ln/>
        </p:spPr>
        <p:txBody>
          <a:bodyPr wrap="square" lIns="0" tIns="0" rIns="0" bIns="0" rtlCol="0" anchor="ctr"/>
          <a:lstStyle/>
          <a:p>
            <a:pPr marL="0" indent="0" algn="ctr">
              <a:buNone/>
            </a:pPr>
            <a:r>
              <a:rPr lang="en-US" sz="2600" b="1" dirty="0">
                <a:solidFill>
                  <a:srgbClr val="E8A838"/>
                </a:solidFill>
                <a:latin typeface="Calibri" pitchFamily="34" charset="0"/>
                <a:ea typeface="Calibri" pitchFamily="34" charset="-122"/>
                <a:cs typeface="Calibri" pitchFamily="34" charset="-120"/>
              </a:rPr>
              <a:t>2</a:t>
            </a:r>
            <a:endParaRPr lang="en-US" sz="2600" dirty="0"/>
          </a:p>
        </p:txBody>
      </p:sp>
      <p:sp>
        <p:nvSpPr>
          <p:cNvPr id="12" name="Text 10"/>
          <p:cNvSpPr/>
          <p:nvPr/>
        </p:nvSpPr>
        <p:spPr>
          <a:xfrm>
            <a:off x="6080760" y="4114800"/>
            <a:ext cx="2194560" cy="640080"/>
          </a:xfrm>
          <a:prstGeom prst="rect">
            <a:avLst/>
          </a:prstGeom>
          <a:noFill/>
          <a:ln/>
        </p:spPr>
        <p:txBody>
          <a:bodyPr wrap="square" lIns="0" tIns="0" rIns="0" bIns="0" rtlCol="0" anchor="ctr"/>
          <a:lstStyle/>
          <a:p>
            <a:pPr marL="0" indent="0" algn="ctr">
              <a:buNone/>
            </a:pPr>
            <a:r>
              <a:rPr lang="en-US" sz="1000" dirty="0">
                <a:solidFill>
                  <a:srgbClr val="1B2A4A"/>
                </a:solidFill>
                <a:latin typeface="Calibri" pitchFamily="34" charset="0"/>
                <a:ea typeface="Calibri" pitchFamily="34" charset="-122"/>
                <a:cs typeface="Calibri" pitchFamily="34" charset="-120"/>
              </a:rPr>
              <a:t>Clinically Validated</a:t>
            </a:r>
            <a:endParaRPr lang="en-US" sz="1000" dirty="0"/>
          </a:p>
          <a:p>
            <a:pPr marL="0" indent="0" algn="ctr">
              <a:buNone/>
            </a:pPr>
            <a:r>
              <a:rPr lang="en-US" sz="1000" dirty="0">
                <a:solidFill>
                  <a:srgbClr val="1B2A4A"/>
                </a:solidFill>
                <a:latin typeface="Calibri" pitchFamily="34" charset="0"/>
                <a:ea typeface="Calibri" pitchFamily="34" charset="-122"/>
                <a:cs typeface="Calibri" pitchFamily="34" charset="-120"/>
              </a:rPr>
              <a:t>(ClinVar)</a:t>
            </a:r>
            <a:endParaRPr lang="en-US" sz="1000" dirty="0"/>
          </a:p>
        </p:txBody>
      </p:sp>
      <p:sp>
        <p:nvSpPr>
          <p:cNvPr id="13" name="Shape 11"/>
          <p:cNvSpPr/>
          <p:nvPr/>
        </p:nvSpPr>
        <p:spPr>
          <a:xfrm>
            <a:off x="822960" y="4023360"/>
            <a:ext cx="7680960" cy="27432"/>
          </a:xfrm>
          <a:prstGeom prst="rect">
            <a:avLst/>
          </a:prstGeom>
          <a:solidFill>
            <a:srgbClr val="1B2A4A"/>
          </a:solidFill>
          <a:ln w="12700">
            <a:solidFill>
              <a:srgbClr val="1B2A4A"/>
            </a:solidFill>
            <a:prstDash val="solid"/>
          </a:ln>
        </p:spPr>
        <p:txBody>
          <a:bodyPr/>
          <a:lstStyle/>
          <a:p>
            <a:endParaRPr lang="en-US"/>
          </a:p>
        </p:txBody>
      </p:sp>
      <p:sp>
        <p:nvSpPr>
          <p:cNvPr id="14" name="Text 12"/>
          <p:cNvSpPr/>
          <p:nvPr/>
        </p:nvSpPr>
        <p:spPr>
          <a:xfrm>
            <a:off x="365760" y="1005840"/>
            <a:ext cx="8412480" cy="365760"/>
          </a:xfrm>
          <a:prstGeom prst="rect">
            <a:avLst/>
          </a:prstGeom>
          <a:noFill/>
          <a:ln/>
        </p:spPr>
        <p:txBody>
          <a:bodyPr wrap="square" lIns="0" tIns="0" rIns="0" bIns="0" rtlCol="0" anchor="ctr"/>
          <a:lstStyle/>
          <a:p>
            <a:pPr marL="0" indent="0" algn="ctr">
              <a:buNone/>
            </a:pPr>
            <a:r>
              <a:rPr lang="en-US" sz="1600" b="1" dirty="0">
                <a:solidFill>
                  <a:srgbClr val="1B2A4A"/>
                </a:solidFill>
                <a:latin typeface="Calibri" pitchFamily="34" charset="0"/>
                <a:ea typeface="Calibri" pitchFamily="34" charset="-122"/>
                <a:cs typeface="Calibri" pitchFamily="34" charset="-120"/>
              </a:rPr>
              <a:t>Representation Gap in Shared T1D–Allergy Loci</a:t>
            </a:r>
            <a:endParaRPr lang="en-US" sz="1600" dirty="0"/>
          </a:p>
        </p:txBody>
      </p:sp>
      <p:sp>
        <p:nvSpPr>
          <p:cNvPr id="15" name="Text 13"/>
          <p:cNvSpPr/>
          <p:nvPr/>
        </p:nvSpPr>
        <p:spPr>
          <a:xfrm>
            <a:off x="365760" y="1371600"/>
            <a:ext cx="8412480" cy="256032"/>
          </a:xfrm>
          <a:prstGeom prst="rect">
            <a:avLst/>
          </a:prstGeom>
          <a:noFill/>
          <a:ln/>
        </p:spPr>
        <p:txBody>
          <a:bodyPr wrap="square" lIns="0" tIns="0" rIns="0" bIns="0" rtlCol="0" anchor="ctr"/>
          <a:lstStyle/>
          <a:p>
            <a:pPr marL="0" indent="0" algn="ctr">
              <a:buNone/>
            </a:pPr>
            <a:r>
              <a:rPr lang="en-US" sz="950" i="1" dirty="0">
                <a:solidFill>
                  <a:srgbClr val="5A7A96"/>
                </a:solidFill>
                <a:latin typeface="Calibri" pitchFamily="34" charset="0"/>
                <a:ea typeface="Calibri" pitchFamily="34" charset="-122"/>
                <a:cs typeface="Calibri" pitchFamily="34" charset="-120"/>
              </a:rPr>
              <a:t>Source: GWAS Catalog full dataset vs. 70%+ Black ancestry filtered subset vs. ClinVar validation</a:t>
            </a:r>
            <a:endParaRPr lang="en-US" sz="950" dirty="0"/>
          </a:p>
        </p:txBody>
      </p:sp>
      <p:sp>
        <p:nvSpPr>
          <p:cNvPr id="16" name="Shape 14"/>
          <p:cNvSpPr/>
          <p:nvPr/>
        </p:nvSpPr>
        <p:spPr>
          <a:xfrm>
            <a:off x="365760" y="4617720"/>
            <a:ext cx="8412480" cy="420624"/>
          </a:xfrm>
          <a:prstGeom prst="rect">
            <a:avLst/>
          </a:prstGeom>
          <a:solidFill>
            <a:srgbClr val="1B2A4A"/>
          </a:solidFill>
          <a:ln w="12700">
            <a:solidFill>
              <a:srgbClr val="1B2A4A"/>
            </a:solidFill>
            <a:prstDash val="solid"/>
          </a:ln>
        </p:spPr>
        <p:txBody>
          <a:bodyPr/>
          <a:lstStyle/>
          <a:p>
            <a:endParaRPr lang="en-US"/>
          </a:p>
        </p:txBody>
      </p:sp>
      <p:sp>
        <p:nvSpPr>
          <p:cNvPr id="17" name="Text 15"/>
          <p:cNvSpPr/>
          <p:nvPr/>
        </p:nvSpPr>
        <p:spPr>
          <a:xfrm>
            <a:off x="457200" y="4645152"/>
            <a:ext cx="8229600" cy="347472"/>
          </a:xfrm>
          <a:prstGeom prst="rect">
            <a:avLst/>
          </a:prstGeom>
          <a:noFill/>
          <a:ln/>
        </p:spPr>
        <p:txBody>
          <a:bodyPr wrap="square" lIns="0" tIns="0" rIns="0" bIns="0"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Shared genetic loci between T1D and allergic phenotypes exist — but have never been meaningfully studied in Black populations.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137160"/>
            <a:ext cx="82296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Calibri" pitchFamily="34" charset="0"/>
                <a:ea typeface="Calibri" pitchFamily="34" charset="-122"/>
                <a:cs typeface="Calibri" pitchFamily="34" charset="-120"/>
              </a:rPr>
              <a:t>THE 2 CLINICALLY VALIDATED SNPs</a:t>
            </a:r>
            <a:endParaRPr lang="en-US" sz="2600" dirty="0"/>
          </a:p>
        </p:txBody>
      </p:sp>
      <p:sp>
        <p:nvSpPr>
          <p:cNvPr id="4" name="Text 2"/>
          <p:cNvSpPr/>
          <p:nvPr/>
        </p:nvSpPr>
        <p:spPr>
          <a:xfrm>
            <a:off x="365760" y="960120"/>
            <a:ext cx="8412480" cy="274320"/>
          </a:xfrm>
          <a:prstGeom prst="rect">
            <a:avLst/>
          </a:prstGeom>
          <a:noFill/>
          <a:ln/>
        </p:spPr>
        <p:txBody>
          <a:bodyPr wrap="square" lIns="0" tIns="0" rIns="0" bIns="0" rtlCol="0" anchor="ctr"/>
          <a:lstStyle/>
          <a:p>
            <a:pPr marL="0" indent="0">
              <a:buNone/>
            </a:pPr>
            <a:r>
              <a:rPr lang="en-US" sz="1100" i="1" dirty="0">
                <a:solidFill>
                  <a:srgbClr val="5A7A96"/>
                </a:solidFill>
                <a:latin typeface="Calibri" pitchFamily="34" charset="0"/>
                <a:ea typeface="Calibri" pitchFamily="34" charset="-122"/>
                <a:cs typeface="Calibri" pitchFamily="34" charset="-120"/>
              </a:rPr>
              <a:t>Of 30 shared SNPs identified in the full GWAS catalog, only 2 have clinical entries in ClinVar</a:t>
            </a:r>
            <a:endParaRPr lang="en-US" sz="1100" dirty="0"/>
          </a:p>
        </p:txBody>
      </p:sp>
      <p:sp>
        <p:nvSpPr>
          <p:cNvPr id="5" name="Shape 3"/>
          <p:cNvSpPr/>
          <p:nvPr/>
        </p:nvSpPr>
        <p:spPr>
          <a:xfrm>
            <a:off x="320040" y="1325880"/>
            <a:ext cx="4251960" cy="356616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320040" y="1325880"/>
            <a:ext cx="4251960" cy="685800"/>
          </a:xfrm>
          <a:prstGeom prst="rect">
            <a:avLst/>
          </a:prstGeom>
          <a:solidFill>
            <a:srgbClr val="2E5B8A"/>
          </a:solidFill>
          <a:ln w="12700">
            <a:solidFill>
              <a:srgbClr val="2E5B8A"/>
            </a:solidFill>
            <a:prstDash val="solid"/>
          </a:ln>
        </p:spPr>
        <p:txBody>
          <a:bodyPr/>
          <a:lstStyle/>
          <a:p>
            <a:endParaRPr lang="en-US"/>
          </a:p>
        </p:txBody>
      </p:sp>
      <p:sp>
        <p:nvSpPr>
          <p:cNvPr id="7" name="Text 5"/>
          <p:cNvSpPr/>
          <p:nvPr/>
        </p:nvSpPr>
        <p:spPr>
          <a:xfrm>
            <a:off x="320040" y="1371600"/>
            <a:ext cx="210312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rs6897932</a:t>
            </a:r>
            <a:endParaRPr lang="en-US" sz="1400" dirty="0"/>
          </a:p>
        </p:txBody>
      </p:sp>
      <p:sp>
        <p:nvSpPr>
          <p:cNvPr id="8" name="Text 6"/>
          <p:cNvSpPr/>
          <p:nvPr/>
        </p:nvSpPr>
        <p:spPr>
          <a:xfrm>
            <a:off x="2423160" y="1371600"/>
            <a:ext cx="2148840" cy="365760"/>
          </a:xfrm>
          <a:prstGeom prst="rect">
            <a:avLst/>
          </a:prstGeom>
          <a:noFill/>
          <a:ln/>
        </p:spPr>
        <p:txBody>
          <a:bodyPr wrap="square" lIns="0" tIns="0" rIns="0" bIns="0" rtlCol="0" anchor="ctr"/>
          <a:lstStyle/>
          <a:p>
            <a:pPr marL="0" indent="0" algn="ctr">
              <a:buNone/>
            </a:pPr>
            <a:r>
              <a:rPr lang="en-US" sz="2200" b="1" dirty="0">
                <a:solidFill>
                  <a:srgbClr val="E8A838"/>
                </a:solidFill>
                <a:latin typeface="Calibri" pitchFamily="34" charset="0"/>
                <a:ea typeface="Calibri" pitchFamily="34" charset="-122"/>
                <a:cs typeface="Calibri" pitchFamily="34" charset="-120"/>
              </a:rPr>
              <a:t>IL7R</a:t>
            </a:r>
            <a:endParaRPr lang="en-US" sz="2200" dirty="0"/>
          </a:p>
        </p:txBody>
      </p:sp>
      <p:sp>
        <p:nvSpPr>
          <p:cNvPr id="9" name="Text 7"/>
          <p:cNvSpPr/>
          <p:nvPr/>
        </p:nvSpPr>
        <p:spPr>
          <a:xfrm>
            <a:off x="320040" y="1737360"/>
            <a:ext cx="4251960" cy="256032"/>
          </a:xfrm>
          <a:prstGeom prst="rect">
            <a:avLst/>
          </a:prstGeom>
          <a:noFill/>
          <a:ln/>
        </p:spPr>
        <p:txBody>
          <a:bodyPr wrap="square" lIns="0" tIns="0" rIns="0" bIns="0"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Interleukin-7 Receptor</a:t>
            </a:r>
            <a:endParaRPr lang="en-US" sz="950" dirty="0"/>
          </a:p>
        </p:txBody>
      </p:sp>
      <p:sp>
        <p:nvSpPr>
          <p:cNvPr id="10" name="Text 8"/>
          <p:cNvSpPr/>
          <p:nvPr/>
        </p:nvSpPr>
        <p:spPr>
          <a:xfrm>
            <a:off x="457200" y="2103120"/>
            <a:ext cx="3931920" cy="228600"/>
          </a:xfrm>
          <a:prstGeom prst="rect">
            <a:avLst/>
          </a:prstGeom>
          <a:noFill/>
          <a:ln/>
        </p:spPr>
        <p:txBody>
          <a:bodyPr wrap="square" lIns="0" tIns="0" rIns="0" bIns="0" rtlCol="0" anchor="ctr"/>
          <a:lstStyle/>
          <a:p>
            <a:pPr marL="0" indent="0">
              <a:buNone/>
            </a:pPr>
            <a:r>
              <a:rPr lang="en-US" sz="1000" b="1" dirty="0">
                <a:solidFill>
                  <a:srgbClr val="2E5B8A"/>
                </a:solidFill>
                <a:latin typeface="Calibri" pitchFamily="34" charset="0"/>
                <a:ea typeface="Calibri" pitchFamily="34" charset="-122"/>
                <a:cs typeface="Calibri" pitchFamily="34" charset="-120"/>
              </a:rPr>
              <a:t>Associated with:</a:t>
            </a:r>
            <a:endParaRPr lang="en-US" sz="1000" dirty="0"/>
          </a:p>
        </p:txBody>
      </p:sp>
      <p:sp>
        <p:nvSpPr>
          <p:cNvPr id="11" name="Text 9"/>
          <p:cNvSpPr/>
          <p:nvPr/>
        </p:nvSpPr>
        <p:spPr>
          <a:xfrm>
            <a:off x="457200" y="2331720"/>
            <a:ext cx="3931920" cy="256032"/>
          </a:xfrm>
          <a:prstGeom prst="rect">
            <a:avLst/>
          </a:prstGeom>
          <a:noFill/>
          <a:ln/>
        </p:spPr>
        <p:txBody>
          <a:bodyPr wrap="square" lIns="0" tIns="0" rIns="0" bIns="0" rtlCol="0" anchor="ctr"/>
          <a:lstStyle/>
          <a:p>
            <a:pPr marL="342900" indent="-342900">
              <a:buSzPct val="100000"/>
              <a:buChar char="•"/>
            </a:pPr>
            <a:r>
              <a:rPr lang="en-US" sz="1050" dirty="0">
                <a:solidFill>
                  <a:srgbClr val="1B2A4A"/>
                </a:solidFill>
                <a:latin typeface="Calibri" pitchFamily="34" charset="0"/>
                <a:ea typeface="Calibri" pitchFamily="34" charset="-122"/>
                <a:cs typeface="Calibri" pitchFamily="34" charset="-120"/>
              </a:rPr>
              <a:t>Type 1 Diabetes</a:t>
            </a:r>
            <a:endParaRPr lang="en-US" sz="1050" dirty="0"/>
          </a:p>
        </p:txBody>
      </p:sp>
      <p:sp>
        <p:nvSpPr>
          <p:cNvPr id="12" name="Text 10"/>
          <p:cNvSpPr/>
          <p:nvPr/>
        </p:nvSpPr>
        <p:spPr>
          <a:xfrm>
            <a:off x="457200" y="2606040"/>
            <a:ext cx="3931920" cy="256032"/>
          </a:xfrm>
          <a:prstGeom prst="rect">
            <a:avLst/>
          </a:prstGeom>
          <a:noFill/>
          <a:ln/>
        </p:spPr>
        <p:txBody>
          <a:bodyPr wrap="square" lIns="0" tIns="0" rIns="0" bIns="0" rtlCol="0" anchor="ctr"/>
          <a:lstStyle/>
          <a:p>
            <a:pPr marL="342900" indent="-342900">
              <a:buSzPct val="100000"/>
              <a:buChar char="•"/>
            </a:pPr>
            <a:r>
              <a:rPr lang="en-US" sz="1050" dirty="0">
                <a:solidFill>
                  <a:srgbClr val="1B2A4A"/>
                </a:solidFill>
                <a:latin typeface="Calibri" pitchFamily="34" charset="0"/>
                <a:ea typeface="Calibri" pitchFamily="34" charset="-122"/>
                <a:cs typeface="Calibri" pitchFamily="34" charset="-120"/>
              </a:rPr>
              <a:t>Asthma</a:t>
            </a:r>
            <a:endParaRPr lang="en-US" sz="1050" dirty="0"/>
          </a:p>
        </p:txBody>
      </p:sp>
      <p:sp>
        <p:nvSpPr>
          <p:cNvPr id="13" name="Text 11"/>
          <p:cNvSpPr/>
          <p:nvPr/>
        </p:nvSpPr>
        <p:spPr>
          <a:xfrm>
            <a:off x="457200" y="2880360"/>
            <a:ext cx="3931920" cy="256032"/>
          </a:xfrm>
          <a:prstGeom prst="rect">
            <a:avLst/>
          </a:prstGeom>
          <a:noFill/>
          <a:ln/>
        </p:spPr>
        <p:txBody>
          <a:bodyPr wrap="square" lIns="0" tIns="0" rIns="0" bIns="0" rtlCol="0" anchor="ctr"/>
          <a:lstStyle/>
          <a:p>
            <a:pPr marL="342900" indent="-342900">
              <a:buSzPct val="100000"/>
              <a:buChar char="•"/>
            </a:pPr>
            <a:r>
              <a:rPr lang="en-US" sz="1050" dirty="0">
                <a:solidFill>
                  <a:srgbClr val="1B2A4A"/>
                </a:solidFill>
                <a:latin typeface="Calibri" pitchFamily="34" charset="0"/>
                <a:ea typeface="Calibri" pitchFamily="34" charset="-122"/>
                <a:cs typeface="Calibri" pitchFamily="34" charset="-120"/>
              </a:rPr>
              <a:t>Multiple sclerosis</a:t>
            </a:r>
            <a:endParaRPr lang="en-US" sz="1050" dirty="0"/>
          </a:p>
        </p:txBody>
      </p:sp>
      <p:sp>
        <p:nvSpPr>
          <p:cNvPr id="14" name="Text 12"/>
          <p:cNvSpPr/>
          <p:nvPr/>
        </p:nvSpPr>
        <p:spPr>
          <a:xfrm>
            <a:off x="457200" y="3154680"/>
            <a:ext cx="3931920" cy="256032"/>
          </a:xfrm>
          <a:prstGeom prst="rect">
            <a:avLst/>
          </a:prstGeom>
          <a:noFill/>
          <a:ln/>
        </p:spPr>
        <p:txBody>
          <a:bodyPr wrap="square" lIns="0" tIns="0" rIns="0" bIns="0" rtlCol="0" anchor="ctr"/>
          <a:lstStyle/>
          <a:p>
            <a:pPr marL="342900" indent="-342900">
              <a:buSzPct val="100000"/>
              <a:buChar char="•"/>
            </a:pPr>
            <a:r>
              <a:rPr lang="en-US" sz="1050" dirty="0">
                <a:solidFill>
                  <a:srgbClr val="1B2A4A"/>
                </a:solidFill>
                <a:latin typeface="Calibri" pitchFamily="34" charset="0"/>
                <a:ea typeface="Calibri" pitchFamily="34" charset="-122"/>
                <a:cs typeface="Calibri" pitchFamily="34" charset="-120"/>
              </a:rPr>
              <a:t>Systemic lupus erythematosus</a:t>
            </a:r>
            <a:endParaRPr lang="en-US" sz="1050" dirty="0"/>
          </a:p>
        </p:txBody>
      </p:sp>
      <p:sp>
        <p:nvSpPr>
          <p:cNvPr id="15" name="Shape 13"/>
          <p:cNvSpPr/>
          <p:nvPr/>
        </p:nvSpPr>
        <p:spPr>
          <a:xfrm>
            <a:off x="411480" y="3493008"/>
            <a:ext cx="4069080" cy="27432"/>
          </a:xfrm>
          <a:prstGeom prst="rect">
            <a:avLst/>
          </a:prstGeom>
          <a:solidFill>
            <a:srgbClr val="D8ECF5"/>
          </a:solidFill>
          <a:ln w="12700">
            <a:solidFill>
              <a:srgbClr val="D8ECF5"/>
            </a:solidFill>
            <a:prstDash val="solid"/>
          </a:ln>
        </p:spPr>
        <p:txBody>
          <a:bodyPr/>
          <a:lstStyle/>
          <a:p>
            <a:endParaRPr lang="en-US"/>
          </a:p>
        </p:txBody>
      </p:sp>
      <p:sp>
        <p:nvSpPr>
          <p:cNvPr id="16" name="Text 14"/>
          <p:cNvSpPr/>
          <p:nvPr/>
        </p:nvSpPr>
        <p:spPr>
          <a:xfrm>
            <a:off x="429768" y="3566160"/>
            <a:ext cx="4041648" cy="1234440"/>
          </a:xfrm>
          <a:prstGeom prst="rect">
            <a:avLst/>
          </a:prstGeom>
          <a:noFill/>
          <a:ln/>
        </p:spPr>
        <p:txBody>
          <a:bodyPr wrap="square" lIns="0" tIns="0" rIns="0" bIns="0" rtlCol="0" anchor="t"/>
          <a:lstStyle/>
          <a:p>
            <a:pPr marL="0" indent="0">
              <a:buNone/>
            </a:pPr>
            <a:r>
              <a:rPr lang="en-US" sz="950" dirty="0">
                <a:solidFill>
                  <a:srgbClr val="5A7A96"/>
                </a:solidFill>
                <a:latin typeface="Calibri" pitchFamily="34" charset="0"/>
                <a:ea typeface="Calibri" pitchFamily="34" charset="-122"/>
                <a:cs typeface="Calibri" pitchFamily="34" charset="-120"/>
              </a:rPr>
              <a:t>IL7R variants affect T cell development and survival — directly relevant to T1D autoimmune destruction of pancreatic beta cells AND allergic inflammation. A shared SNP here makes strong biological sense.</a:t>
            </a:r>
            <a:endParaRPr lang="en-US" sz="950" dirty="0"/>
          </a:p>
        </p:txBody>
      </p:sp>
      <p:sp>
        <p:nvSpPr>
          <p:cNvPr id="17" name="Shape 15"/>
          <p:cNvSpPr/>
          <p:nvPr/>
        </p:nvSpPr>
        <p:spPr>
          <a:xfrm>
            <a:off x="4846320" y="1325880"/>
            <a:ext cx="4251960" cy="356616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4846320" y="1325880"/>
            <a:ext cx="4251960" cy="685800"/>
          </a:xfrm>
          <a:prstGeom prst="rect">
            <a:avLst/>
          </a:prstGeom>
          <a:solidFill>
            <a:srgbClr val="4DA6D9"/>
          </a:solidFill>
          <a:ln w="12700">
            <a:solidFill>
              <a:srgbClr val="4DA6D9"/>
            </a:solidFill>
            <a:prstDash val="solid"/>
          </a:ln>
        </p:spPr>
        <p:txBody>
          <a:bodyPr/>
          <a:lstStyle/>
          <a:p>
            <a:endParaRPr lang="en-US"/>
          </a:p>
        </p:txBody>
      </p:sp>
      <p:sp>
        <p:nvSpPr>
          <p:cNvPr id="19" name="Text 17"/>
          <p:cNvSpPr/>
          <p:nvPr/>
        </p:nvSpPr>
        <p:spPr>
          <a:xfrm>
            <a:off x="4846320" y="1371600"/>
            <a:ext cx="210312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rs705704</a:t>
            </a:r>
            <a:endParaRPr lang="en-US" sz="1400" dirty="0"/>
          </a:p>
        </p:txBody>
      </p:sp>
      <p:sp>
        <p:nvSpPr>
          <p:cNvPr id="20" name="Text 18"/>
          <p:cNvSpPr/>
          <p:nvPr/>
        </p:nvSpPr>
        <p:spPr>
          <a:xfrm>
            <a:off x="6949440" y="1371600"/>
            <a:ext cx="2148840" cy="365760"/>
          </a:xfrm>
          <a:prstGeom prst="rect">
            <a:avLst/>
          </a:prstGeom>
          <a:noFill/>
          <a:ln/>
        </p:spPr>
        <p:txBody>
          <a:bodyPr wrap="square" lIns="0" tIns="0" rIns="0" bIns="0" rtlCol="0" anchor="ctr"/>
          <a:lstStyle/>
          <a:p>
            <a:pPr marL="0" indent="0" algn="ctr">
              <a:buNone/>
            </a:pPr>
            <a:r>
              <a:rPr lang="en-US" sz="2200" b="1" dirty="0">
                <a:solidFill>
                  <a:srgbClr val="E8A838"/>
                </a:solidFill>
                <a:latin typeface="Calibri" pitchFamily="34" charset="0"/>
                <a:ea typeface="Calibri" pitchFamily="34" charset="-122"/>
                <a:cs typeface="Calibri" pitchFamily="34" charset="-120"/>
              </a:rPr>
              <a:t>RPS26</a:t>
            </a:r>
            <a:endParaRPr lang="en-US" sz="2200" dirty="0"/>
          </a:p>
        </p:txBody>
      </p:sp>
      <p:sp>
        <p:nvSpPr>
          <p:cNvPr id="21" name="Text 19"/>
          <p:cNvSpPr/>
          <p:nvPr/>
        </p:nvSpPr>
        <p:spPr>
          <a:xfrm>
            <a:off x="4846320" y="1737360"/>
            <a:ext cx="4251960" cy="256032"/>
          </a:xfrm>
          <a:prstGeom prst="rect">
            <a:avLst/>
          </a:prstGeom>
          <a:noFill/>
          <a:ln/>
        </p:spPr>
        <p:txBody>
          <a:bodyPr wrap="square" lIns="0" tIns="0" rIns="0" bIns="0"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Ribosomal Protein S26</a:t>
            </a:r>
            <a:endParaRPr lang="en-US" sz="950" dirty="0"/>
          </a:p>
        </p:txBody>
      </p:sp>
      <p:sp>
        <p:nvSpPr>
          <p:cNvPr id="22" name="Text 20"/>
          <p:cNvSpPr/>
          <p:nvPr/>
        </p:nvSpPr>
        <p:spPr>
          <a:xfrm>
            <a:off x="4983480" y="2103120"/>
            <a:ext cx="3931920" cy="228600"/>
          </a:xfrm>
          <a:prstGeom prst="rect">
            <a:avLst/>
          </a:prstGeom>
          <a:noFill/>
          <a:ln/>
        </p:spPr>
        <p:txBody>
          <a:bodyPr wrap="square" lIns="0" tIns="0" rIns="0" bIns="0" rtlCol="0" anchor="ctr"/>
          <a:lstStyle/>
          <a:p>
            <a:pPr marL="0" indent="0">
              <a:buNone/>
            </a:pPr>
            <a:r>
              <a:rPr lang="en-US" sz="1000" b="1" dirty="0">
                <a:solidFill>
                  <a:srgbClr val="4DA6D9"/>
                </a:solidFill>
                <a:latin typeface="Calibri" pitchFamily="34" charset="0"/>
                <a:ea typeface="Calibri" pitchFamily="34" charset="-122"/>
                <a:cs typeface="Calibri" pitchFamily="34" charset="-120"/>
              </a:rPr>
              <a:t>Associated with:</a:t>
            </a:r>
            <a:endParaRPr lang="en-US" sz="1000" dirty="0"/>
          </a:p>
        </p:txBody>
      </p:sp>
      <p:sp>
        <p:nvSpPr>
          <p:cNvPr id="23" name="Text 21"/>
          <p:cNvSpPr/>
          <p:nvPr/>
        </p:nvSpPr>
        <p:spPr>
          <a:xfrm>
            <a:off x="4983480" y="2331720"/>
            <a:ext cx="3931920" cy="256032"/>
          </a:xfrm>
          <a:prstGeom prst="rect">
            <a:avLst/>
          </a:prstGeom>
          <a:noFill/>
          <a:ln/>
        </p:spPr>
        <p:txBody>
          <a:bodyPr wrap="square" lIns="0" tIns="0" rIns="0" bIns="0" rtlCol="0" anchor="ctr"/>
          <a:lstStyle/>
          <a:p>
            <a:pPr marL="342900" indent="-342900">
              <a:buSzPct val="100000"/>
              <a:buChar char="•"/>
            </a:pPr>
            <a:r>
              <a:rPr lang="en-US" sz="1050" dirty="0">
                <a:solidFill>
                  <a:srgbClr val="1B2A4A"/>
                </a:solidFill>
                <a:latin typeface="Calibri" pitchFamily="34" charset="0"/>
                <a:ea typeface="Calibri" pitchFamily="34" charset="-122"/>
                <a:cs typeface="Calibri" pitchFamily="34" charset="-120"/>
              </a:rPr>
              <a:t>Type 1 Diabetes</a:t>
            </a:r>
            <a:endParaRPr lang="en-US" sz="1050" dirty="0"/>
          </a:p>
        </p:txBody>
      </p:sp>
      <p:sp>
        <p:nvSpPr>
          <p:cNvPr id="24" name="Text 22"/>
          <p:cNvSpPr/>
          <p:nvPr/>
        </p:nvSpPr>
        <p:spPr>
          <a:xfrm>
            <a:off x="4983480" y="2606040"/>
            <a:ext cx="3931920" cy="256032"/>
          </a:xfrm>
          <a:prstGeom prst="rect">
            <a:avLst/>
          </a:prstGeom>
          <a:noFill/>
          <a:ln/>
        </p:spPr>
        <p:txBody>
          <a:bodyPr wrap="square" lIns="0" tIns="0" rIns="0" bIns="0" rtlCol="0" anchor="ctr"/>
          <a:lstStyle/>
          <a:p>
            <a:pPr marL="342900" indent="-342900">
              <a:buSzPct val="100000"/>
              <a:buChar char="•"/>
            </a:pPr>
            <a:r>
              <a:rPr lang="en-US" sz="1050" dirty="0">
                <a:solidFill>
                  <a:srgbClr val="1B2A4A"/>
                </a:solidFill>
                <a:latin typeface="Calibri" pitchFamily="34" charset="0"/>
                <a:ea typeface="Calibri" pitchFamily="34" charset="-122"/>
                <a:cs typeface="Calibri" pitchFamily="34" charset="-120"/>
              </a:rPr>
              <a:t>Asthma</a:t>
            </a:r>
            <a:endParaRPr lang="en-US" sz="1050" dirty="0"/>
          </a:p>
        </p:txBody>
      </p:sp>
      <p:sp>
        <p:nvSpPr>
          <p:cNvPr id="25" name="Text 23"/>
          <p:cNvSpPr/>
          <p:nvPr/>
        </p:nvSpPr>
        <p:spPr>
          <a:xfrm>
            <a:off x="4983480" y="2880360"/>
            <a:ext cx="3931920" cy="256032"/>
          </a:xfrm>
          <a:prstGeom prst="rect">
            <a:avLst/>
          </a:prstGeom>
          <a:noFill/>
          <a:ln/>
        </p:spPr>
        <p:txBody>
          <a:bodyPr wrap="square" lIns="0" tIns="0" rIns="0" bIns="0" rtlCol="0" anchor="ctr"/>
          <a:lstStyle/>
          <a:p>
            <a:pPr marL="342900" indent="-342900">
              <a:buSzPct val="100000"/>
              <a:buChar char="•"/>
            </a:pPr>
            <a:r>
              <a:rPr lang="en-US" sz="1050" dirty="0">
                <a:solidFill>
                  <a:srgbClr val="1B2A4A"/>
                </a:solidFill>
                <a:latin typeface="Calibri" pitchFamily="34" charset="0"/>
                <a:ea typeface="Calibri" pitchFamily="34" charset="-122"/>
                <a:cs typeface="Calibri" pitchFamily="34" charset="-120"/>
              </a:rPr>
              <a:t>Body mass index</a:t>
            </a:r>
            <a:endParaRPr lang="en-US" sz="1050" dirty="0"/>
          </a:p>
        </p:txBody>
      </p:sp>
      <p:sp>
        <p:nvSpPr>
          <p:cNvPr id="26" name="Text 24"/>
          <p:cNvSpPr/>
          <p:nvPr/>
        </p:nvSpPr>
        <p:spPr>
          <a:xfrm>
            <a:off x="4983480" y="3154680"/>
            <a:ext cx="3931920" cy="256032"/>
          </a:xfrm>
          <a:prstGeom prst="rect">
            <a:avLst/>
          </a:prstGeom>
          <a:noFill/>
          <a:ln/>
        </p:spPr>
        <p:txBody>
          <a:bodyPr wrap="square" lIns="0" tIns="0" rIns="0" bIns="0" rtlCol="0" anchor="ctr"/>
          <a:lstStyle/>
          <a:p>
            <a:pPr marL="342900" indent="-342900">
              <a:buSzPct val="100000"/>
              <a:buChar char="•"/>
            </a:pPr>
            <a:r>
              <a:rPr lang="en-US" sz="1050" dirty="0">
                <a:solidFill>
                  <a:srgbClr val="1B2A4A"/>
                </a:solidFill>
                <a:latin typeface="Calibri" pitchFamily="34" charset="0"/>
                <a:ea typeface="Calibri" pitchFamily="34" charset="-122"/>
                <a:cs typeface="Calibri" pitchFamily="34" charset="-120"/>
              </a:rPr>
              <a:t>Metabolic syndrome</a:t>
            </a:r>
            <a:endParaRPr lang="en-US" sz="1050" dirty="0"/>
          </a:p>
        </p:txBody>
      </p:sp>
      <p:sp>
        <p:nvSpPr>
          <p:cNvPr id="27" name="Shape 25"/>
          <p:cNvSpPr/>
          <p:nvPr/>
        </p:nvSpPr>
        <p:spPr>
          <a:xfrm>
            <a:off x="4937760" y="3493008"/>
            <a:ext cx="4069080" cy="27432"/>
          </a:xfrm>
          <a:prstGeom prst="rect">
            <a:avLst/>
          </a:prstGeom>
          <a:solidFill>
            <a:srgbClr val="D8ECF5"/>
          </a:solidFill>
          <a:ln w="12700">
            <a:solidFill>
              <a:srgbClr val="D8ECF5"/>
            </a:solidFill>
            <a:prstDash val="solid"/>
          </a:ln>
        </p:spPr>
        <p:txBody>
          <a:bodyPr/>
          <a:lstStyle/>
          <a:p>
            <a:endParaRPr lang="en-US"/>
          </a:p>
        </p:txBody>
      </p:sp>
      <p:sp>
        <p:nvSpPr>
          <p:cNvPr id="28" name="Text 26"/>
          <p:cNvSpPr/>
          <p:nvPr/>
        </p:nvSpPr>
        <p:spPr>
          <a:xfrm>
            <a:off x="4956048" y="3566160"/>
            <a:ext cx="4041648" cy="1234440"/>
          </a:xfrm>
          <a:prstGeom prst="rect">
            <a:avLst/>
          </a:prstGeom>
          <a:noFill/>
          <a:ln/>
        </p:spPr>
        <p:txBody>
          <a:bodyPr wrap="square" lIns="0" tIns="0" rIns="0" bIns="0" rtlCol="0" anchor="t"/>
          <a:lstStyle/>
          <a:p>
            <a:pPr marL="0" indent="0">
              <a:buNone/>
            </a:pPr>
            <a:r>
              <a:rPr lang="en-US" sz="950" dirty="0">
                <a:solidFill>
                  <a:srgbClr val="5A7A96"/>
                </a:solidFill>
                <a:latin typeface="Calibri" pitchFamily="34" charset="0"/>
                <a:ea typeface="Calibri" pitchFamily="34" charset="-122"/>
                <a:cs typeface="Calibri" pitchFamily="34" charset="-120"/>
              </a:rPr>
              <a:t>RPS26 sits in chromosome 12q13 and has been associated with T1D through effects on INS (insulin gene) expression. Its appearance as a shared locus with allergy phenotypes is a novel finding worth highlighting.</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365760" y="137160"/>
            <a:ext cx="8229600" cy="594360"/>
          </a:xfrm>
          <a:prstGeom prst="rect">
            <a:avLst/>
          </a:prstGeom>
          <a:noFill/>
          <a:ln/>
        </p:spPr>
        <p:txBody>
          <a:bodyPr wrap="square" lIns="0" tIns="0" rIns="0" bIns="0" rtlCol="0" anchor="ctr"/>
          <a:lstStyle/>
          <a:p>
            <a:pPr marL="0" indent="0">
              <a:buNone/>
            </a:pPr>
            <a:r>
              <a:rPr lang="en-US" sz="2600" b="1" kern="0" spc="200" dirty="0">
                <a:solidFill>
                  <a:srgbClr val="FFFFFF"/>
                </a:solidFill>
                <a:latin typeface="Calibri" pitchFamily="34" charset="0"/>
                <a:ea typeface="Calibri" pitchFamily="34" charset="-122"/>
                <a:cs typeface="Calibri" pitchFamily="34" charset="-120"/>
              </a:rPr>
              <a:t>FUTURE INTEREST</a:t>
            </a:r>
            <a:endParaRPr lang="en-US" sz="2600" dirty="0"/>
          </a:p>
        </p:txBody>
      </p:sp>
      <p:sp>
        <p:nvSpPr>
          <p:cNvPr id="4" name="Shape 2"/>
          <p:cNvSpPr/>
          <p:nvPr/>
        </p:nvSpPr>
        <p:spPr>
          <a:xfrm>
            <a:off x="320040" y="1051560"/>
            <a:ext cx="2743200" cy="388620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320040" y="1051560"/>
            <a:ext cx="2743200" cy="502920"/>
          </a:xfrm>
          <a:prstGeom prst="rect">
            <a:avLst/>
          </a:prstGeom>
          <a:solidFill>
            <a:srgbClr val="4DA6D9"/>
          </a:solidFill>
          <a:ln w="12700">
            <a:solidFill>
              <a:srgbClr val="4DA6D9"/>
            </a:solidFill>
            <a:prstDash val="solid"/>
          </a:ln>
        </p:spPr>
        <p:txBody>
          <a:bodyPr/>
          <a:lstStyle/>
          <a:p>
            <a:endParaRPr lang="en-US"/>
          </a:p>
        </p:txBody>
      </p:sp>
      <p:sp>
        <p:nvSpPr>
          <p:cNvPr id="6" name="Text 4"/>
          <p:cNvSpPr/>
          <p:nvPr/>
        </p:nvSpPr>
        <p:spPr>
          <a:xfrm>
            <a:off x="320040" y="1078992"/>
            <a:ext cx="2743200" cy="45720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Short </a:t>
            </a:r>
            <a:r>
              <a:rPr lang="en-US" sz="1300" b="1" dirty="0">
                <a:solidFill>
                  <a:srgbClr val="FFFFFF"/>
                </a:solidFill>
                <a:latin typeface="Calibri" pitchFamily="34" charset="0"/>
                <a:ea typeface="Calibri" pitchFamily="34" charset="-122"/>
                <a:cs typeface="Calibri" pitchFamily="34" charset="-120"/>
              </a:rPr>
              <a:t>Term</a:t>
            </a:r>
            <a:endParaRPr lang="en-US" sz="1300" dirty="0"/>
          </a:p>
        </p:txBody>
      </p:sp>
      <p:sp>
        <p:nvSpPr>
          <p:cNvPr id="7" name="Shape 5"/>
          <p:cNvSpPr/>
          <p:nvPr/>
        </p:nvSpPr>
        <p:spPr>
          <a:xfrm>
            <a:off x="438912" y="1737360"/>
            <a:ext cx="201168" cy="201168"/>
          </a:xfrm>
          <a:prstGeom prst="ellipse">
            <a:avLst/>
          </a:prstGeom>
          <a:solidFill>
            <a:srgbClr val="4DA6D9"/>
          </a:solidFill>
          <a:ln w="12700">
            <a:solidFill>
              <a:srgbClr val="4DA6D9"/>
            </a:solidFill>
            <a:prstDash val="solid"/>
          </a:ln>
        </p:spPr>
        <p:txBody>
          <a:bodyPr/>
          <a:lstStyle/>
          <a:p>
            <a:endParaRPr lang="en-US"/>
          </a:p>
        </p:txBody>
      </p:sp>
      <p:sp>
        <p:nvSpPr>
          <p:cNvPr id="8" name="Text 6"/>
          <p:cNvSpPr/>
          <p:nvPr/>
        </p:nvSpPr>
        <p:spPr>
          <a:xfrm>
            <a:off x="704088" y="1691640"/>
            <a:ext cx="2267712" cy="960120"/>
          </a:xfrm>
          <a:prstGeom prst="rect">
            <a:avLst/>
          </a:prstGeom>
          <a:noFill/>
          <a:ln/>
        </p:spPr>
        <p:txBody>
          <a:bodyPr wrap="square" lIns="0" tIns="0" rIns="0" bIns="0" rtlCol="0" anchor="t"/>
          <a:lstStyle/>
          <a:p>
            <a:pPr marL="0" indent="0">
              <a:buNone/>
            </a:pPr>
            <a:r>
              <a:rPr lang="en-US" sz="1000" dirty="0">
                <a:solidFill>
                  <a:srgbClr val="1B2A4A"/>
                </a:solidFill>
                <a:latin typeface="Calibri" pitchFamily="34" charset="0"/>
                <a:ea typeface="Calibri" pitchFamily="34" charset="-122"/>
                <a:cs typeface="Calibri" pitchFamily="34" charset="-120"/>
              </a:rPr>
              <a:t>Expand semantic matching using LLMs to capture allergy phenotype variants missed by rigid string filters</a:t>
            </a:r>
            <a:endParaRPr lang="en-US" sz="1000" dirty="0"/>
          </a:p>
        </p:txBody>
      </p:sp>
      <p:sp>
        <p:nvSpPr>
          <p:cNvPr id="9" name="Shape 7"/>
          <p:cNvSpPr/>
          <p:nvPr/>
        </p:nvSpPr>
        <p:spPr>
          <a:xfrm>
            <a:off x="438912" y="2788920"/>
            <a:ext cx="201168" cy="201168"/>
          </a:xfrm>
          <a:prstGeom prst="ellipse">
            <a:avLst/>
          </a:prstGeom>
          <a:solidFill>
            <a:srgbClr val="4DA6D9"/>
          </a:solidFill>
          <a:ln w="12700">
            <a:solidFill>
              <a:srgbClr val="4DA6D9"/>
            </a:solidFill>
            <a:prstDash val="solid"/>
          </a:ln>
        </p:spPr>
        <p:txBody>
          <a:bodyPr/>
          <a:lstStyle/>
          <a:p>
            <a:endParaRPr lang="en-US"/>
          </a:p>
        </p:txBody>
      </p:sp>
      <p:sp>
        <p:nvSpPr>
          <p:cNvPr id="10" name="Text 8"/>
          <p:cNvSpPr/>
          <p:nvPr/>
        </p:nvSpPr>
        <p:spPr>
          <a:xfrm>
            <a:off x="704088" y="2743200"/>
            <a:ext cx="2267712" cy="960120"/>
          </a:xfrm>
          <a:prstGeom prst="rect">
            <a:avLst/>
          </a:prstGeom>
          <a:noFill/>
          <a:ln/>
        </p:spPr>
        <p:txBody>
          <a:bodyPr wrap="square" lIns="0" tIns="0" rIns="0" bIns="0" rtlCol="0" anchor="t"/>
          <a:lstStyle/>
          <a:p>
            <a:pPr marL="0" indent="0">
              <a:buNone/>
            </a:pPr>
            <a:r>
              <a:rPr lang="en-US" sz="1000" dirty="0">
                <a:solidFill>
                  <a:srgbClr val="1B2A4A"/>
                </a:solidFill>
                <a:latin typeface="Calibri" pitchFamily="34" charset="0"/>
                <a:ea typeface="Calibri" pitchFamily="34" charset="-122"/>
                <a:cs typeface="Calibri" pitchFamily="34" charset="-120"/>
              </a:rPr>
              <a:t>Integrate gnomAD African ancestry population frequency data for allele frequency comparison</a:t>
            </a:r>
            <a:endParaRPr lang="en-US" sz="1000" dirty="0"/>
          </a:p>
        </p:txBody>
      </p:sp>
      <p:sp>
        <p:nvSpPr>
          <p:cNvPr id="11" name="Shape 9"/>
          <p:cNvSpPr/>
          <p:nvPr/>
        </p:nvSpPr>
        <p:spPr>
          <a:xfrm>
            <a:off x="438912" y="3840480"/>
            <a:ext cx="201168" cy="201168"/>
          </a:xfrm>
          <a:prstGeom prst="ellipse">
            <a:avLst/>
          </a:prstGeom>
          <a:solidFill>
            <a:srgbClr val="4DA6D9"/>
          </a:solidFill>
          <a:ln w="12700">
            <a:solidFill>
              <a:srgbClr val="4DA6D9"/>
            </a:solidFill>
            <a:prstDash val="solid"/>
          </a:ln>
        </p:spPr>
        <p:txBody>
          <a:bodyPr/>
          <a:lstStyle/>
          <a:p>
            <a:endParaRPr lang="en-US"/>
          </a:p>
        </p:txBody>
      </p:sp>
      <p:sp>
        <p:nvSpPr>
          <p:cNvPr id="12" name="Text 10"/>
          <p:cNvSpPr/>
          <p:nvPr/>
        </p:nvSpPr>
        <p:spPr>
          <a:xfrm>
            <a:off x="704088" y="3794760"/>
            <a:ext cx="2267712" cy="960120"/>
          </a:xfrm>
          <a:prstGeom prst="rect">
            <a:avLst/>
          </a:prstGeom>
          <a:noFill/>
          <a:ln/>
        </p:spPr>
        <p:txBody>
          <a:bodyPr wrap="square" lIns="0" tIns="0" rIns="0" bIns="0" rtlCol="0" anchor="t"/>
          <a:lstStyle/>
          <a:p>
            <a:pPr marL="0" indent="0">
              <a:buNone/>
            </a:pPr>
            <a:r>
              <a:rPr lang="en-US" sz="1000" dirty="0">
                <a:solidFill>
                  <a:srgbClr val="1B2A4A"/>
                </a:solidFill>
                <a:latin typeface="Calibri" pitchFamily="34" charset="0"/>
                <a:ea typeface="Calibri" pitchFamily="34" charset="-122"/>
                <a:cs typeface="Calibri" pitchFamily="34" charset="-120"/>
              </a:rPr>
              <a:t>Narrow focus to specific allergens (e.g., tree nuts) where literature suggests stronger T1D correlation</a:t>
            </a:r>
            <a:endParaRPr lang="en-US" sz="1000" dirty="0"/>
          </a:p>
        </p:txBody>
      </p:sp>
      <p:sp>
        <p:nvSpPr>
          <p:cNvPr id="13" name="Shape 11"/>
          <p:cNvSpPr/>
          <p:nvPr/>
        </p:nvSpPr>
        <p:spPr>
          <a:xfrm>
            <a:off x="3246120" y="1051560"/>
            <a:ext cx="2743200" cy="388620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sp>
        <p:nvSpPr>
          <p:cNvPr id="14" name="Shape 12"/>
          <p:cNvSpPr/>
          <p:nvPr/>
        </p:nvSpPr>
        <p:spPr>
          <a:xfrm>
            <a:off x="3246120" y="1051560"/>
            <a:ext cx="2743200" cy="502920"/>
          </a:xfrm>
          <a:prstGeom prst="rect">
            <a:avLst/>
          </a:prstGeom>
          <a:solidFill>
            <a:srgbClr val="2E5B8A"/>
          </a:solidFill>
          <a:ln w="12700">
            <a:solidFill>
              <a:srgbClr val="2E5B8A"/>
            </a:solidFill>
            <a:prstDash val="solid"/>
          </a:ln>
        </p:spPr>
        <p:txBody>
          <a:bodyPr/>
          <a:lstStyle/>
          <a:p>
            <a:endParaRPr lang="en-US"/>
          </a:p>
        </p:txBody>
      </p:sp>
      <p:sp>
        <p:nvSpPr>
          <p:cNvPr id="15" name="Text 13"/>
          <p:cNvSpPr/>
          <p:nvPr/>
        </p:nvSpPr>
        <p:spPr>
          <a:xfrm>
            <a:off x="3246120" y="1078992"/>
            <a:ext cx="2743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Mid Term</a:t>
            </a:r>
            <a:endParaRPr lang="en-US" sz="1300" dirty="0"/>
          </a:p>
        </p:txBody>
      </p:sp>
      <p:sp>
        <p:nvSpPr>
          <p:cNvPr id="16" name="Shape 14"/>
          <p:cNvSpPr/>
          <p:nvPr/>
        </p:nvSpPr>
        <p:spPr>
          <a:xfrm>
            <a:off x="3364992" y="1737360"/>
            <a:ext cx="201168" cy="201168"/>
          </a:xfrm>
          <a:prstGeom prst="ellipse">
            <a:avLst/>
          </a:prstGeom>
          <a:solidFill>
            <a:srgbClr val="2E5B8A"/>
          </a:solidFill>
          <a:ln w="12700">
            <a:solidFill>
              <a:srgbClr val="2E5B8A"/>
            </a:solidFill>
            <a:prstDash val="solid"/>
          </a:ln>
        </p:spPr>
        <p:txBody>
          <a:bodyPr/>
          <a:lstStyle/>
          <a:p>
            <a:endParaRPr lang="en-US"/>
          </a:p>
        </p:txBody>
      </p:sp>
      <p:sp>
        <p:nvSpPr>
          <p:cNvPr id="17" name="Text 15"/>
          <p:cNvSpPr/>
          <p:nvPr/>
        </p:nvSpPr>
        <p:spPr>
          <a:xfrm>
            <a:off x="3630168" y="1691640"/>
            <a:ext cx="2267712" cy="960120"/>
          </a:xfrm>
          <a:prstGeom prst="rect">
            <a:avLst/>
          </a:prstGeom>
          <a:noFill/>
          <a:ln/>
        </p:spPr>
        <p:txBody>
          <a:bodyPr wrap="square" lIns="0" tIns="0" rIns="0" bIns="0" rtlCol="0" anchor="t"/>
          <a:lstStyle/>
          <a:p>
            <a:pPr marL="0" indent="0">
              <a:buNone/>
            </a:pPr>
            <a:r>
              <a:rPr lang="en-US" sz="1000" dirty="0">
                <a:solidFill>
                  <a:srgbClr val="1B2A4A"/>
                </a:solidFill>
                <a:latin typeface="Calibri" pitchFamily="34" charset="0"/>
                <a:ea typeface="Calibri" pitchFamily="34" charset="-122"/>
                <a:cs typeface="Calibri" pitchFamily="34" charset="-120"/>
              </a:rPr>
              <a:t>Apply ML clustering to identify shared functional pathways between allergy and T1D variants</a:t>
            </a:r>
            <a:endParaRPr lang="en-US" sz="1000" dirty="0"/>
          </a:p>
        </p:txBody>
      </p:sp>
      <p:sp>
        <p:nvSpPr>
          <p:cNvPr id="18" name="Shape 16"/>
          <p:cNvSpPr/>
          <p:nvPr/>
        </p:nvSpPr>
        <p:spPr>
          <a:xfrm>
            <a:off x="3364992" y="2788920"/>
            <a:ext cx="201168" cy="201168"/>
          </a:xfrm>
          <a:prstGeom prst="ellipse">
            <a:avLst/>
          </a:prstGeom>
          <a:solidFill>
            <a:srgbClr val="2E5B8A"/>
          </a:solidFill>
          <a:ln w="12700">
            <a:solidFill>
              <a:srgbClr val="2E5B8A"/>
            </a:solidFill>
            <a:prstDash val="solid"/>
          </a:ln>
        </p:spPr>
        <p:txBody>
          <a:bodyPr/>
          <a:lstStyle/>
          <a:p>
            <a:endParaRPr lang="en-US"/>
          </a:p>
        </p:txBody>
      </p:sp>
      <p:sp>
        <p:nvSpPr>
          <p:cNvPr id="19" name="Text 17"/>
          <p:cNvSpPr/>
          <p:nvPr/>
        </p:nvSpPr>
        <p:spPr>
          <a:xfrm>
            <a:off x="3630168" y="2743200"/>
            <a:ext cx="2267712" cy="960120"/>
          </a:xfrm>
          <a:prstGeom prst="rect">
            <a:avLst/>
          </a:prstGeom>
          <a:noFill/>
          <a:ln/>
        </p:spPr>
        <p:txBody>
          <a:bodyPr wrap="square" lIns="0" tIns="0" rIns="0" bIns="0" rtlCol="0" anchor="t"/>
          <a:lstStyle/>
          <a:p>
            <a:pPr marL="0" indent="0">
              <a:buNone/>
            </a:pPr>
            <a:r>
              <a:rPr lang="en-US" sz="1000" dirty="0">
                <a:solidFill>
                  <a:srgbClr val="1B2A4A"/>
                </a:solidFill>
                <a:latin typeface="Calibri" pitchFamily="34" charset="0"/>
                <a:ea typeface="Calibri" pitchFamily="34" charset="-122"/>
                <a:cs typeface="Calibri" pitchFamily="34" charset="-120"/>
              </a:rPr>
              <a:t>Build a classifier to flag variants likely underclassified in Black populations due to representation gaps</a:t>
            </a:r>
            <a:endParaRPr lang="en-US" sz="1000" dirty="0"/>
          </a:p>
        </p:txBody>
      </p:sp>
      <p:sp>
        <p:nvSpPr>
          <p:cNvPr id="20" name="Shape 18"/>
          <p:cNvSpPr/>
          <p:nvPr/>
        </p:nvSpPr>
        <p:spPr>
          <a:xfrm>
            <a:off x="3364992" y="3840480"/>
            <a:ext cx="201168" cy="201168"/>
          </a:xfrm>
          <a:prstGeom prst="ellipse">
            <a:avLst/>
          </a:prstGeom>
          <a:solidFill>
            <a:srgbClr val="2E5B8A"/>
          </a:solidFill>
          <a:ln w="12700">
            <a:solidFill>
              <a:srgbClr val="2E5B8A"/>
            </a:solidFill>
            <a:prstDash val="solid"/>
          </a:ln>
        </p:spPr>
        <p:txBody>
          <a:bodyPr/>
          <a:lstStyle/>
          <a:p>
            <a:endParaRPr lang="en-US"/>
          </a:p>
        </p:txBody>
      </p:sp>
      <p:sp>
        <p:nvSpPr>
          <p:cNvPr id="21" name="Text 19"/>
          <p:cNvSpPr/>
          <p:nvPr/>
        </p:nvSpPr>
        <p:spPr>
          <a:xfrm>
            <a:off x="3630168" y="3794760"/>
            <a:ext cx="2267712" cy="960120"/>
          </a:xfrm>
          <a:prstGeom prst="rect">
            <a:avLst/>
          </a:prstGeom>
          <a:noFill/>
          <a:ln/>
        </p:spPr>
        <p:txBody>
          <a:bodyPr wrap="square" lIns="0" tIns="0" rIns="0" bIns="0" rtlCol="0" anchor="t"/>
          <a:lstStyle/>
          <a:p>
            <a:pPr marL="0" indent="0">
              <a:buNone/>
            </a:pPr>
            <a:r>
              <a:rPr lang="en-US" sz="1000" dirty="0">
                <a:solidFill>
                  <a:srgbClr val="1B2A4A"/>
                </a:solidFill>
                <a:latin typeface="Calibri" pitchFamily="34" charset="0"/>
                <a:ea typeface="Calibri" pitchFamily="34" charset="-122"/>
                <a:cs typeface="Calibri" pitchFamily="34" charset="-120"/>
              </a:rPr>
              <a:t>Validate IL7R and RPS26 findings against additional Black-ancestry cohorts</a:t>
            </a:r>
            <a:endParaRPr lang="en-US" sz="1000" dirty="0"/>
          </a:p>
        </p:txBody>
      </p:sp>
      <p:sp>
        <p:nvSpPr>
          <p:cNvPr id="22" name="Shape 20"/>
          <p:cNvSpPr/>
          <p:nvPr/>
        </p:nvSpPr>
        <p:spPr>
          <a:xfrm>
            <a:off x="6172200" y="1051560"/>
            <a:ext cx="2743200" cy="3886200"/>
          </a:xfrm>
          <a:prstGeom prst="rect">
            <a:avLst/>
          </a:prstGeom>
          <a:solidFill>
            <a:srgbClr val="FFFFFF"/>
          </a:solidFill>
          <a:ln w="12700">
            <a:solidFill>
              <a:srgbClr val="D8ECF5"/>
            </a:solidFill>
            <a:prstDash val="solid"/>
          </a:ln>
          <a:effectLst>
            <a:outerShdw blurRad="101600" dist="38100" dir="8100000" algn="bl" rotWithShape="0">
              <a:srgbClr val="000000">
                <a:alpha val="12000"/>
              </a:srgbClr>
            </a:outerShdw>
          </a:effectLst>
        </p:spPr>
        <p:txBody>
          <a:bodyPr/>
          <a:lstStyle/>
          <a:p>
            <a:endParaRPr lang="en-US"/>
          </a:p>
        </p:txBody>
      </p:sp>
      <p:sp>
        <p:nvSpPr>
          <p:cNvPr id="23" name="Shape 21"/>
          <p:cNvSpPr/>
          <p:nvPr/>
        </p:nvSpPr>
        <p:spPr>
          <a:xfrm>
            <a:off x="6172200" y="1051560"/>
            <a:ext cx="2743200" cy="502920"/>
          </a:xfrm>
          <a:prstGeom prst="rect">
            <a:avLst/>
          </a:prstGeom>
          <a:solidFill>
            <a:srgbClr val="E8A838"/>
          </a:solidFill>
          <a:ln w="12700">
            <a:solidFill>
              <a:srgbClr val="E8A838"/>
            </a:solidFill>
            <a:prstDash val="solid"/>
          </a:ln>
        </p:spPr>
        <p:txBody>
          <a:bodyPr/>
          <a:lstStyle/>
          <a:p>
            <a:endParaRPr lang="en-US"/>
          </a:p>
        </p:txBody>
      </p:sp>
      <p:sp>
        <p:nvSpPr>
          <p:cNvPr id="24" name="Text 22"/>
          <p:cNvSpPr/>
          <p:nvPr/>
        </p:nvSpPr>
        <p:spPr>
          <a:xfrm>
            <a:off x="6172200" y="1078992"/>
            <a:ext cx="2743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Long Term</a:t>
            </a:r>
            <a:endParaRPr lang="en-US" sz="1300" dirty="0"/>
          </a:p>
        </p:txBody>
      </p:sp>
      <p:sp>
        <p:nvSpPr>
          <p:cNvPr id="25" name="Shape 23"/>
          <p:cNvSpPr/>
          <p:nvPr/>
        </p:nvSpPr>
        <p:spPr>
          <a:xfrm>
            <a:off x="6291072" y="1737360"/>
            <a:ext cx="201168" cy="201168"/>
          </a:xfrm>
          <a:prstGeom prst="ellipse">
            <a:avLst/>
          </a:prstGeom>
          <a:solidFill>
            <a:srgbClr val="E8A838"/>
          </a:solidFill>
          <a:ln w="12700">
            <a:solidFill>
              <a:srgbClr val="E8A838"/>
            </a:solidFill>
            <a:prstDash val="solid"/>
          </a:ln>
        </p:spPr>
        <p:txBody>
          <a:bodyPr/>
          <a:lstStyle/>
          <a:p>
            <a:endParaRPr lang="en-US"/>
          </a:p>
        </p:txBody>
      </p:sp>
      <p:sp>
        <p:nvSpPr>
          <p:cNvPr id="26" name="Text 24"/>
          <p:cNvSpPr/>
          <p:nvPr/>
        </p:nvSpPr>
        <p:spPr>
          <a:xfrm>
            <a:off x="6556248" y="1691640"/>
            <a:ext cx="2267712" cy="960120"/>
          </a:xfrm>
          <a:prstGeom prst="rect">
            <a:avLst/>
          </a:prstGeom>
          <a:noFill/>
          <a:ln/>
        </p:spPr>
        <p:txBody>
          <a:bodyPr wrap="square" lIns="0" tIns="0" rIns="0" bIns="0" rtlCol="0" anchor="t"/>
          <a:lstStyle/>
          <a:p>
            <a:pPr marL="0" indent="0">
              <a:buNone/>
            </a:pPr>
            <a:r>
              <a:rPr lang="en-US" sz="1000" dirty="0">
                <a:solidFill>
                  <a:srgbClr val="1B2A4A"/>
                </a:solidFill>
                <a:latin typeface="Calibri" pitchFamily="34" charset="0"/>
                <a:ea typeface="Calibri" pitchFamily="34" charset="-122"/>
                <a:cs typeface="Calibri" pitchFamily="34" charset="-120"/>
              </a:rPr>
              <a:t>Advocate for mandatory ancestry diversity reporting in GWAS publications</a:t>
            </a:r>
            <a:endParaRPr lang="en-US" sz="1000" dirty="0"/>
          </a:p>
        </p:txBody>
      </p:sp>
      <p:sp>
        <p:nvSpPr>
          <p:cNvPr id="27" name="Shape 25"/>
          <p:cNvSpPr/>
          <p:nvPr/>
        </p:nvSpPr>
        <p:spPr>
          <a:xfrm>
            <a:off x="6291072" y="2788920"/>
            <a:ext cx="201168" cy="201168"/>
          </a:xfrm>
          <a:prstGeom prst="ellipse">
            <a:avLst/>
          </a:prstGeom>
          <a:solidFill>
            <a:srgbClr val="E8A838"/>
          </a:solidFill>
          <a:ln w="12700">
            <a:solidFill>
              <a:srgbClr val="E8A838"/>
            </a:solidFill>
            <a:prstDash val="solid"/>
          </a:ln>
        </p:spPr>
        <p:txBody>
          <a:bodyPr/>
          <a:lstStyle/>
          <a:p>
            <a:endParaRPr lang="en-US"/>
          </a:p>
        </p:txBody>
      </p:sp>
      <p:sp>
        <p:nvSpPr>
          <p:cNvPr id="28" name="Text 26"/>
          <p:cNvSpPr/>
          <p:nvPr/>
        </p:nvSpPr>
        <p:spPr>
          <a:xfrm>
            <a:off x="6556248" y="2743200"/>
            <a:ext cx="2267712" cy="960120"/>
          </a:xfrm>
          <a:prstGeom prst="rect">
            <a:avLst/>
          </a:prstGeom>
          <a:noFill/>
          <a:ln/>
        </p:spPr>
        <p:txBody>
          <a:bodyPr wrap="square" lIns="0" tIns="0" rIns="0" bIns="0" rtlCol="0" anchor="t"/>
          <a:lstStyle/>
          <a:p>
            <a:pPr marL="0" indent="0">
              <a:buNone/>
            </a:pPr>
            <a:r>
              <a:rPr lang="en-US" sz="1000" dirty="0">
                <a:solidFill>
                  <a:srgbClr val="1B2A4A"/>
                </a:solidFill>
                <a:latin typeface="Calibri" pitchFamily="34" charset="0"/>
                <a:ea typeface="Calibri" pitchFamily="34" charset="-122"/>
                <a:cs typeface="Calibri" pitchFamily="34" charset="-120"/>
              </a:rPr>
              <a:t>Develop a public-facing tool for clinicians to identify ancestry-specific risk variants</a:t>
            </a:r>
            <a:endParaRPr lang="en-US" sz="1000" dirty="0"/>
          </a:p>
        </p:txBody>
      </p:sp>
      <p:sp>
        <p:nvSpPr>
          <p:cNvPr id="29" name="Shape 27"/>
          <p:cNvSpPr/>
          <p:nvPr/>
        </p:nvSpPr>
        <p:spPr>
          <a:xfrm>
            <a:off x="6291072" y="3840480"/>
            <a:ext cx="201168" cy="201168"/>
          </a:xfrm>
          <a:prstGeom prst="ellipse">
            <a:avLst/>
          </a:prstGeom>
          <a:solidFill>
            <a:srgbClr val="E8A838"/>
          </a:solidFill>
          <a:ln w="12700">
            <a:solidFill>
              <a:srgbClr val="E8A838"/>
            </a:solidFill>
            <a:prstDash val="solid"/>
          </a:ln>
        </p:spPr>
        <p:txBody>
          <a:bodyPr/>
          <a:lstStyle/>
          <a:p>
            <a:endParaRPr lang="en-US"/>
          </a:p>
        </p:txBody>
      </p:sp>
      <p:sp>
        <p:nvSpPr>
          <p:cNvPr id="30" name="Text 28"/>
          <p:cNvSpPr/>
          <p:nvPr/>
        </p:nvSpPr>
        <p:spPr>
          <a:xfrm>
            <a:off x="6556248" y="3794760"/>
            <a:ext cx="2267712" cy="960120"/>
          </a:xfrm>
          <a:prstGeom prst="rect">
            <a:avLst/>
          </a:prstGeom>
          <a:noFill/>
          <a:ln/>
        </p:spPr>
        <p:txBody>
          <a:bodyPr wrap="square" lIns="0" tIns="0" rIns="0" bIns="0" rtlCol="0" anchor="t"/>
          <a:lstStyle/>
          <a:p>
            <a:pPr marL="0" indent="0">
              <a:buNone/>
            </a:pPr>
            <a:r>
              <a:rPr lang="en-US" sz="1000" dirty="0">
                <a:solidFill>
                  <a:srgbClr val="1B2A4A"/>
                </a:solidFill>
                <a:latin typeface="Calibri" pitchFamily="34" charset="0"/>
                <a:ea typeface="Calibri" pitchFamily="34" charset="-122"/>
                <a:cs typeface="Calibri" pitchFamily="34" charset="-120"/>
              </a:rPr>
              <a:t>Publish findings to contribute to equitable genomic medicine for Black adolescents with T1D</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731520" y="-731520"/>
            <a:ext cx="4114800" cy="4114800"/>
          </a:xfrm>
          <a:prstGeom prst="ellipse">
            <a:avLst/>
          </a:prstGeom>
          <a:solidFill>
            <a:srgbClr val="2E5B8A">
              <a:alpha val="35000"/>
            </a:srgbClr>
          </a:solidFill>
          <a:ln w="12700">
            <a:solidFill>
              <a:srgbClr val="2E5B8A">
                <a:alpha val="35000"/>
              </a:srgbClr>
            </a:solidFill>
            <a:prstDash val="solid"/>
          </a:ln>
        </p:spPr>
        <p:txBody>
          <a:bodyPr/>
          <a:lstStyle/>
          <a:p>
            <a:endParaRPr lang="en-US"/>
          </a:p>
        </p:txBody>
      </p:sp>
      <p:sp>
        <p:nvSpPr>
          <p:cNvPr id="3" name="Shape 1"/>
          <p:cNvSpPr/>
          <p:nvPr/>
        </p:nvSpPr>
        <p:spPr>
          <a:xfrm>
            <a:off x="6583680" y="2560320"/>
            <a:ext cx="3657600" cy="3657600"/>
          </a:xfrm>
          <a:prstGeom prst="ellipse">
            <a:avLst/>
          </a:prstGeom>
          <a:solidFill>
            <a:srgbClr val="2E5B8A">
              <a:alpha val="30000"/>
            </a:srgbClr>
          </a:solidFill>
          <a:ln w="12700">
            <a:solidFill>
              <a:srgbClr val="2E5B8A">
                <a:alpha val="30000"/>
              </a:srgbClr>
            </a:solidFill>
            <a:prstDash val="solid"/>
          </a:ln>
        </p:spPr>
        <p:txBody>
          <a:bodyPr/>
          <a:lstStyle/>
          <a:p>
            <a:endParaRPr lang="en-US"/>
          </a:p>
        </p:txBody>
      </p:sp>
      <p:sp>
        <p:nvSpPr>
          <p:cNvPr id="4" name="Shape 2"/>
          <p:cNvSpPr/>
          <p:nvPr/>
        </p:nvSpPr>
        <p:spPr>
          <a:xfrm>
            <a:off x="7315200" y="3200400"/>
            <a:ext cx="2286000" cy="2286000"/>
          </a:xfrm>
          <a:prstGeom prst="ellipse">
            <a:avLst/>
          </a:prstGeom>
          <a:solidFill>
            <a:srgbClr val="4DA6D9">
              <a:alpha val="25000"/>
            </a:srgbClr>
          </a:solidFill>
          <a:ln w="12700">
            <a:solidFill>
              <a:srgbClr val="4DA6D9">
                <a:alpha val="25000"/>
              </a:srgbClr>
            </a:solidFill>
            <a:prstDash val="solid"/>
          </a:ln>
        </p:spPr>
        <p:txBody>
          <a:bodyPr/>
          <a:lstStyle/>
          <a:p>
            <a:endParaRPr lang="en-US"/>
          </a:p>
        </p:txBody>
      </p:sp>
      <p:sp>
        <p:nvSpPr>
          <p:cNvPr id="5" name="Text 3"/>
          <p:cNvSpPr/>
          <p:nvPr/>
        </p:nvSpPr>
        <p:spPr>
          <a:xfrm>
            <a:off x="457200" y="1371600"/>
            <a:ext cx="8229600" cy="914400"/>
          </a:xfrm>
          <a:prstGeom prst="rect">
            <a:avLst/>
          </a:prstGeom>
          <a:noFill/>
          <a:ln/>
        </p:spPr>
        <p:txBody>
          <a:bodyPr wrap="square" lIns="0" tIns="0" rIns="0" bIns="0" rtlCol="0" anchor="ctr"/>
          <a:lstStyle/>
          <a:p>
            <a:pPr marL="0" indent="0" algn="ctr">
              <a:buNone/>
            </a:pPr>
            <a:r>
              <a:rPr lang="en-US" sz="4800" b="1" kern="0" spc="600" dirty="0">
                <a:solidFill>
                  <a:srgbClr val="FFFFFF"/>
                </a:solidFill>
                <a:latin typeface="Calibri" pitchFamily="34" charset="0"/>
                <a:ea typeface="Calibri" pitchFamily="34" charset="-122"/>
                <a:cs typeface="Calibri" pitchFamily="34" charset="-120"/>
              </a:rPr>
              <a:t>THANK YOU</a:t>
            </a:r>
            <a:endParaRPr lang="en-US" sz="4800" dirty="0"/>
          </a:p>
        </p:txBody>
      </p:sp>
      <p:sp>
        <p:nvSpPr>
          <p:cNvPr id="6" name="Shape 4"/>
          <p:cNvSpPr/>
          <p:nvPr/>
        </p:nvSpPr>
        <p:spPr>
          <a:xfrm>
            <a:off x="2286000" y="2423160"/>
            <a:ext cx="4572000" cy="36576"/>
          </a:xfrm>
          <a:prstGeom prst="rect">
            <a:avLst/>
          </a:prstGeom>
          <a:solidFill>
            <a:srgbClr val="4DA6D9"/>
          </a:solidFill>
          <a:ln w="12700">
            <a:solidFill>
              <a:srgbClr val="4DA6D9"/>
            </a:solidFill>
            <a:prstDash val="solid"/>
          </a:ln>
        </p:spPr>
        <p:txBody>
          <a:bodyPr/>
          <a:lstStyle/>
          <a:p>
            <a:endParaRPr lang="en-US"/>
          </a:p>
        </p:txBody>
      </p:sp>
      <p:sp>
        <p:nvSpPr>
          <p:cNvPr id="7" name="Text 5"/>
          <p:cNvSpPr/>
          <p:nvPr/>
        </p:nvSpPr>
        <p:spPr>
          <a:xfrm>
            <a:off x="457200" y="2560320"/>
            <a:ext cx="8229600" cy="411480"/>
          </a:xfrm>
          <a:prstGeom prst="rect">
            <a:avLst/>
          </a:prstGeom>
          <a:noFill/>
          <a:ln/>
        </p:spPr>
        <p:txBody>
          <a:bodyPr wrap="square" lIns="0" tIns="0" rIns="0" bIns="0" rtlCol="0" anchor="ctr"/>
          <a:lstStyle/>
          <a:p>
            <a:pPr marL="0" indent="0" algn="ctr">
              <a:buNone/>
            </a:pPr>
            <a:r>
              <a:rPr lang="en-US" sz="1400" b="1" kern="0" spc="300" dirty="0">
                <a:solidFill>
                  <a:srgbClr val="4DA6D9"/>
                </a:solidFill>
                <a:latin typeface="Calibri" pitchFamily="34" charset="0"/>
                <a:ea typeface="Calibri" pitchFamily="34" charset="-122"/>
                <a:cs typeface="Calibri" pitchFamily="34" charset="-120"/>
              </a:rPr>
              <a:t>MAKENZIE ROULAE WIGGINS</a:t>
            </a:r>
            <a:endParaRPr lang="en-US" sz="1400" dirty="0"/>
          </a:p>
        </p:txBody>
      </p:sp>
      <p:sp>
        <p:nvSpPr>
          <p:cNvPr id="8" name="Shape 6"/>
          <p:cNvSpPr/>
          <p:nvPr/>
        </p:nvSpPr>
        <p:spPr>
          <a:xfrm>
            <a:off x="731520" y="3154680"/>
            <a:ext cx="7680960" cy="475488"/>
          </a:xfrm>
          <a:prstGeom prst="rect">
            <a:avLst/>
          </a:prstGeom>
          <a:solidFill>
            <a:srgbClr val="2E5B8A"/>
          </a:solidFill>
          <a:ln w="12700">
            <a:solidFill>
              <a:srgbClr val="2E5B8A"/>
            </a:solidFill>
            <a:prstDash val="solid"/>
          </a:ln>
        </p:spPr>
        <p:txBody>
          <a:bodyPr/>
          <a:lstStyle/>
          <a:p>
            <a:endParaRPr lang="en-US"/>
          </a:p>
        </p:txBody>
      </p:sp>
      <p:sp>
        <p:nvSpPr>
          <p:cNvPr id="9" name="Shape 7"/>
          <p:cNvSpPr/>
          <p:nvPr/>
        </p:nvSpPr>
        <p:spPr>
          <a:xfrm>
            <a:off x="731520" y="3154680"/>
            <a:ext cx="73152" cy="475488"/>
          </a:xfrm>
          <a:prstGeom prst="rect">
            <a:avLst/>
          </a:prstGeom>
          <a:solidFill>
            <a:srgbClr val="4DA6D9"/>
          </a:solidFill>
          <a:ln w="12700">
            <a:solidFill>
              <a:srgbClr val="4DA6D9"/>
            </a:solidFill>
            <a:prstDash val="solid"/>
          </a:ln>
        </p:spPr>
        <p:txBody>
          <a:bodyPr/>
          <a:lstStyle/>
          <a:p>
            <a:endParaRPr lang="en-US"/>
          </a:p>
        </p:txBody>
      </p:sp>
      <p:sp>
        <p:nvSpPr>
          <p:cNvPr id="10" name="Text 8"/>
          <p:cNvSpPr/>
          <p:nvPr/>
        </p:nvSpPr>
        <p:spPr>
          <a:xfrm>
            <a:off x="960120" y="3154680"/>
            <a:ext cx="7223760" cy="47548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30 shared T1D-Allergy SNPs exist in GWAS — 0 studied in Black populations</a:t>
            </a:r>
            <a:endParaRPr lang="en-US" sz="1150" dirty="0"/>
          </a:p>
        </p:txBody>
      </p:sp>
      <p:sp>
        <p:nvSpPr>
          <p:cNvPr id="11" name="Shape 9"/>
          <p:cNvSpPr/>
          <p:nvPr/>
        </p:nvSpPr>
        <p:spPr>
          <a:xfrm>
            <a:off x="731520" y="3721608"/>
            <a:ext cx="7680960" cy="475488"/>
          </a:xfrm>
          <a:prstGeom prst="rect">
            <a:avLst/>
          </a:prstGeom>
          <a:solidFill>
            <a:srgbClr val="2E5B8A"/>
          </a:solidFill>
          <a:ln w="12700">
            <a:solidFill>
              <a:srgbClr val="2E5B8A"/>
            </a:solidFill>
            <a:prstDash val="solid"/>
          </a:ln>
        </p:spPr>
        <p:txBody>
          <a:bodyPr/>
          <a:lstStyle/>
          <a:p>
            <a:endParaRPr lang="en-US"/>
          </a:p>
        </p:txBody>
      </p:sp>
      <p:sp>
        <p:nvSpPr>
          <p:cNvPr id="12" name="Shape 10"/>
          <p:cNvSpPr/>
          <p:nvPr/>
        </p:nvSpPr>
        <p:spPr>
          <a:xfrm>
            <a:off x="731520" y="3721608"/>
            <a:ext cx="73152" cy="475488"/>
          </a:xfrm>
          <a:prstGeom prst="rect">
            <a:avLst/>
          </a:prstGeom>
          <a:solidFill>
            <a:srgbClr val="4DA6D9"/>
          </a:solidFill>
          <a:ln w="12700">
            <a:solidFill>
              <a:srgbClr val="4DA6D9"/>
            </a:solidFill>
            <a:prstDash val="solid"/>
          </a:ln>
        </p:spPr>
        <p:txBody>
          <a:bodyPr/>
          <a:lstStyle/>
          <a:p>
            <a:endParaRPr lang="en-US"/>
          </a:p>
        </p:txBody>
      </p:sp>
      <p:sp>
        <p:nvSpPr>
          <p:cNvPr id="13" name="Text 11"/>
          <p:cNvSpPr/>
          <p:nvPr/>
        </p:nvSpPr>
        <p:spPr>
          <a:xfrm>
            <a:off x="960120" y="3721608"/>
            <a:ext cx="7223760" cy="47548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IL7R &amp; RPS26 are clinically validated shared loci with strong biological relevance</a:t>
            </a:r>
            <a:endParaRPr lang="en-US" sz="1150" dirty="0"/>
          </a:p>
        </p:txBody>
      </p:sp>
      <p:sp>
        <p:nvSpPr>
          <p:cNvPr id="14" name="Shape 12"/>
          <p:cNvSpPr/>
          <p:nvPr/>
        </p:nvSpPr>
        <p:spPr>
          <a:xfrm>
            <a:off x="731520" y="4288536"/>
            <a:ext cx="7680960" cy="475488"/>
          </a:xfrm>
          <a:prstGeom prst="rect">
            <a:avLst/>
          </a:prstGeom>
          <a:solidFill>
            <a:srgbClr val="2E5B8A"/>
          </a:solidFill>
          <a:ln w="12700">
            <a:solidFill>
              <a:srgbClr val="2E5B8A"/>
            </a:solidFill>
            <a:prstDash val="solid"/>
          </a:ln>
        </p:spPr>
        <p:txBody>
          <a:bodyPr/>
          <a:lstStyle/>
          <a:p>
            <a:endParaRPr lang="en-US"/>
          </a:p>
        </p:txBody>
      </p:sp>
      <p:sp>
        <p:nvSpPr>
          <p:cNvPr id="15" name="Shape 13"/>
          <p:cNvSpPr/>
          <p:nvPr/>
        </p:nvSpPr>
        <p:spPr>
          <a:xfrm>
            <a:off x="731520" y="4288536"/>
            <a:ext cx="73152" cy="475488"/>
          </a:xfrm>
          <a:prstGeom prst="rect">
            <a:avLst/>
          </a:prstGeom>
          <a:solidFill>
            <a:srgbClr val="4DA6D9"/>
          </a:solidFill>
          <a:ln w="12700">
            <a:solidFill>
              <a:srgbClr val="4DA6D9"/>
            </a:solidFill>
            <a:prstDash val="solid"/>
          </a:ln>
        </p:spPr>
        <p:txBody>
          <a:bodyPr/>
          <a:lstStyle/>
          <a:p>
            <a:endParaRPr lang="en-US"/>
          </a:p>
        </p:txBody>
      </p:sp>
      <p:sp>
        <p:nvSpPr>
          <p:cNvPr id="16" name="Text 14"/>
          <p:cNvSpPr/>
          <p:nvPr/>
        </p:nvSpPr>
        <p:spPr>
          <a:xfrm>
            <a:off x="960120" y="4288536"/>
            <a:ext cx="7223760" cy="47548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LLM-assisted wrangling is a legitimate methodological contribution to bioinformatics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8142028E4A71C40ADCE181C69C0B55D" ma:contentTypeVersion="9" ma:contentTypeDescription="Create a new document." ma:contentTypeScope="" ma:versionID="42c13347a6adbea4cd35b39795a71ba2">
  <xsd:schema xmlns:xsd="http://www.w3.org/2001/XMLSchema" xmlns:xs="http://www.w3.org/2001/XMLSchema" xmlns:p="http://schemas.microsoft.com/office/2006/metadata/properties" xmlns:ns3="9d71eda7-d744-4616-b469-720b0aba4edc" targetNamespace="http://schemas.microsoft.com/office/2006/metadata/properties" ma:root="true" ma:fieldsID="f32a2b637027521ce5bf3c331cf37d73" ns3:_="">
    <xsd:import namespace="9d71eda7-d744-4616-b469-720b0aba4edc"/>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71eda7-d744-4616-b469-720b0aba4ed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d71eda7-d744-4616-b469-720b0aba4edc" xsi:nil="true"/>
  </documentManagement>
</p:properties>
</file>

<file path=customXml/itemProps1.xml><?xml version="1.0" encoding="utf-8"?>
<ds:datastoreItem xmlns:ds="http://schemas.openxmlformats.org/officeDocument/2006/customXml" ds:itemID="{405089F2-57F8-4C75-B550-291D23BE7BC0}">
  <ds:schemaRefs>
    <ds:schemaRef ds:uri="http://schemas.microsoft.com/sharepoint/v3/contenttype/forms"/>
  </ds:schemaRefs>
</ds:datastoreItem>
</file>

<file path=customXml/itemProps2.xml><?xml version="1.0" encoding="utf-8"?>
<ds:datastoreItem xmlns:ds="http://schemas.openxmlformats.org/officeDocument/2006/customXml" ds:itemID="{5903278D-EF3C-4C48-8EC5-7E615A8747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d71eda7-d744-4616-b469-720b0aba4e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11CAA4D-F0D9-40AC-9AE8-423ED66869FA}">
  <ds:schemaRefs>
    <ds:schemaRef ds:uri="http://schemas.microsoft.com/office/2006/documentManagement/types"/>
    <ds:schemaRef ds:uri="http://schemas.microsoft.com/office/2006/metadata/properties"/>
    <ds:schemaRef ds:uri="http://www.w3.org/XML/1998/namespace"/>
    <ds:schemaRef ds:uri="http://purl.org/dc/elements/1.1/"/>
    <ds:schemaRef ds:uri="http://schemas.openxmlformats.org/package/2006/metadata/core-properties"/>
    <ds:schemaRef ds:uri="http://purl.org/dc/dcmitype/"/>
    <ds:schemaRef ds:uri="9d71eda7-d744-4616-b469-720b0aba4edc"/>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201</TotalTime>
  <Words>3274</Words>
  <Application>Microsoft Office PowerPoint</Application>
  <PresentationFormat>On-screen Show (16:9)</PresentationFormat>
  <Paragraphs>275</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Equity in Autoimmunity - Final Presentation</dc:title>
  <dc:subject>PptxGenJS Presentation</dc:subject>
  <dc:creator>Makenzie Roulae Wiggins</dc:creator>
  <cp:lastModifiedBy>Makenzie Wiggins</cp:lastModifiedBy>
  <cp:revision>18</cp:revision>
  <dcterms:created xsi:type="dcterms:W3CDTF">2026-04-14T04:03:12Z</dcterms:created>
  <dcterms:modified xsi:type="dcterms:W3CDTF">2026-04-15T20:29:14Z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0x010100E8142028E4A71C40ADCE181C69C0B55D</vt:lpwstr>
  </property>
</Properties>
</file>